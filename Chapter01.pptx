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39"/>
  </p:notesMasterIdLst>
  <p:handoutMasterIdLst>
    <p:handoutMasterId r:id="rId40"/>
  </p:handoutMasterIdLst>
  <p:sldIdLst>
    <p:sldId id="369" r:id="rId3"/>
    <p:sldId id="331" r:id="rId4"/>
    <p:sldId id="336" r:id="rId5"/>
    <p:sldId id="342" r:id="rId6"/>
    <p:sldId id="343" r:id="rId7"/>
    <p:sldId id="344" r:id="rId8"/>
    <p:sldId id="349" r:id="rId9"/>
    <p:sldId id="348" r:id="rId10"/>
    <p:sldId id="347" r:id="rId11"/>
    <p:sldId id="350" r:id="rId12"/>
    <p:sldId id="346" r:id="rId13"/>
    <p:sldId id="345" r:id="rId14"/>
    <p:sldId id="371" r:id="rId15"/>
    <p:sldId id="370" r:id="rId16"/>
    <p:sldId id="372" r:id="rId17"/>
    <p:sldId id="358" r:id="rId18"/>
    <p:sldId id="373" r:id="rId19"/>
    <p:sldId id="357" r:id="rId20"/>
    <p:sldId id="356" r:id="rId21"/>
    <p:sldId id="355" r:id="rId22"/>
    <p:sldId id="354" r:id="rId23"/>
    <p:sldId id="374" r:id="rId24"/>
    <p:sldId id="353" r:id="rId25"/>
    <p:sldId id="352" r:id="rId26"/>
    <p:sldId id="351" r:id="rId27"/>
    <p:sldId id="368" r:id="rId28"/>
    <p:sldId id="367" r:id="rId29"/>
    <p:sldId id="375" r:id="rId30"/>
    <p:sldId id="366" r:id="rId31"/>
    <p:sldId id="365" r:id="rId32"/>
    <p:sldId id="364" r:id="rId33"/>
    <p:sldId id="363" r:id="rId34"/>
    <p:sldId id="362" r:id="rId35"/>
    <p:sldId id="361" r:id="rId36"/>
    <p:sldId id="360" r:id="rId37"/>
    <p:sldId id="298" r:id="rId38"/>
  </p:sldIdLst>
  <p:sldSz cx="9144000" cy="6858000" type="screen4x3"/>
  <p:notesSz cx="6858000" cy="9144000"/>
  <p:embeddedFontLs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52" userDrawn="1">
          <p15:clr>
            <a:srgbClr val="A4A3A4"/>
          </p15:clr>
        </p15:guide>
        <p15:guide id="2" pos="295" userDrawn="1">
          <p15:clr>
            <a:srgbClr val="A4A3A4"/>
          </p15:clr>
        </p15:guide>
        <p15:guide id="4" orient="horz" pos="119" userDrawn="1">
          <p15:clr>
            <a:srgbClr val="A4A3A4"/>
          </p15:clr>
        </p15:guide>
        <p15:guide id="6" orient="horz" pos="981" userDrawn="1">
          <p15:clr>
            <a:srgbClr val="A4A3A4"/>
          </p15:clr>
        </p15:guide>
        <p15:guide id="9" pos="5465"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E7CFF7-5980-954F-A6E3-047C788AF7F2}" v="6" dt="2026-08-27T20:19:14.533"/>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2" autoAdjust="0"/>
    <p:restoredTop sz="77176" autoAdjust="0"/>
  </p:normalViewPr>
  <p:slideViewPr>
    <p:cSldViewPr snapToGrid="0" snapToObjects="1">
      <p:cViewPr varScale="1">
        <p:scale>
          <a:sx n="66" d="100"/>
          <a:sy n="66" d="100"/>
        </p:scale>
        <p:origin x="2232" y="184"/>
      </p:cViewPr>
      <p:guideLst>
        <p:guide orient="horz" pos="3952"/>
        <p:guide pos="295"/>
        <p:guide orient="horz" pos="119"/>
        <p:guide orient="horz" pos="981"/>
        <p:guide pos="5465"/>
        <p:guide orient="horz" pos="822"/>
      </p:guideLst>
    </p:cSldViewPr>
  </p:slideViewPr>
  <p:outlineViewPr>
    <p:cViewPr>
      <p:scale>
        <a:sx n="50" d="100"/>
        <a:sy n="50" d="100"/>
      </p:scale>
      <p:origin x="0" y="-1997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9/4/2026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2T14:59:02.633"/>
    </inkml:context>
    <inkml:brush xml:id="br0">
      <inkml:brushProperty name="width" value="0.035" units="cm"/>
      <inkml:brushProperty name="height" value="0.035" units="cm"/>
      <inkml:brushProperty name="color" value="#00A0D7"/>
    </inkml:brush>
  </inkml:definitions>
  <inkml:trace contextRef="#ctx0" brushRef="#br0">83 0 24575,'0'6'0,"0"1"0,0 3 0,0 4 0,0 11 0,0 7 0,0 4 0,0-2 0,0-5 0,0 0 0,0-1 0,0-5 0,0-5 0,0-4 0,0 2 0,0 8 0,0 8 0,0 1 0,0-3 0,0-8 0,0-7 0,0-3 0,0 0 0,0-1 0,0 3 0,0 7 0,0 13 0,2 8 0,2 4 0,-1-2 0,0-7 0,-3-5 0,0-9 0,0-7 0,0-4 0,0 0 0,0-3 0,0-5 0,-2-6 0,-1-6 0,1 0 0,-3-3 0,-1 0 0,-2-4 0,-1 0 0,2-1 0,-2 1 0,1-1 0,-1 1 0,0-3 0,2 1 0,-1 6 0,6 3 0,3 8 0,5 5 0,5 7 0,-2 5 0,0 2 0,-1 1 0,1-1 0,0 0 0,3 2 0,-1-1 0,3 0 0,-1-2 0,-2-3 0,0 0 0,-3-3 0,0-3 0,-1-2 0,0-1 0,1 1 0,-1 1 0,-1-4 0,-2-5 0,-1-5 0,-3-3 0,0 0 0,0-2 0,0-2 0,0-1 0,0-2 0,0 0 0,0 1 0,0 0 0,0-1 0,3-1 0,2 1 0,2 0 0,2 0 0,-1 4 0,0 3 0,-2 1 0,-1 1 0,-2-2 0,-2 4 0,-1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19:56:29.314"/>
    </inkml:context>
    <inkml:brush xml:id="br0">
      <inkml:brushProperty name="width" value="0.035" units="cm"/>
      <inkml:brushProperty name="height" value="0.035" units="cm"/>
      <inkml:brushProperty name="color" value="#E71224"/>
    </inkml:brush>
  </inkml:definitions>
  <inkml:trace contextRef="#ctx0" brushRef="#br0">15 86 24575,'0'37'0,"0"27"0,0-14 0,0 3 0,0 11 0,0 1 0,0-3 0,0-1 0,0-8 0,0-3 0,0 24 0,0-24 0,0-17 0,0-8 0,0-8 0,0 5 0,0 13 0,0 19 0,0 7 0,0-3 0,0-15 0,2-18 0,2-10 0,5-11 0,5-6 0,2-5 0,5-5 0,1-4 0,8 2 0,15 2 0,25 5 0,-21 4 0,4 2 0,10 0 0,4 0 0,8 1 0,2 0 0,-2 0 0,0 0 0,-1 0 0,-2 0 0,-7 0 0,-3 0 0,-7 0 0,-1 0 0,44 0 0,-11 1 0,-6 3 0,-3 4 0,-7 3 0,-8 0 0,-6 0 0,-8-3 0,-3-2 0,-1-3 0,0-3 0,0 0 0,5 0 0,6 0 0,16 0 0,12 0 0,4 0 0,-9 0 0,-22 0 0,-19 0 0,-16 0 0,-6 0 0,-7-2 0,-4-3 0,-2-1 0,-3-6 0,0-6 0,0-10 0,0-5 0,0 1 0,0 5 0,0-1 0,0-11 0,0-18 0,0-11 0,0 0 0,0 11 0,0 16 0,0 13 0,0 5 0,0 0 0,0-3 0,0-5 0,0-5 0,0-1 0,0 5 0,0 8 0,0 7 0,0 4 0,0 1 0,-1-6 0,-2-9 0,-7-23 0,-4-7 0,-1 10 0,0 14 0,1 22 0,-3 6 0,0 0 0,-2 1 0,-3-3 0,-1 0 0,-4-1 0,0 2 0,0 3 0,0 1 0,0 2 0,-3 0 0,-1 0 0,-1 0 0,-3 0 0,-5 0 0,-7 0 0,-15 0 0,-10 0 0,-14 0 0,-9-2 0,45 0 0,-1-1 0,0 1 0,0-1 0,1 1 0,-1 0 0,1-1 0,0 0 0,-40-1 0,9-1 0,11 2 0,8 3 0,8 0 0,4 0 0,10 0 0,4 0 0,6 0 0,3 0 0,1 0 0,-1 0 0,0 0 0,0 0 0,3 0 0,5 0 0,5 2 0,4 1 0,-5 2 0,-13 2 0,-24 4 0,-25 4 0,-20 3 0,46-8 0,2-1 0,-36 6 0,25-5 0,30-6 0,20-3 0,9-1 0,6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 = Exabyte </a:t>
            </a:r>
          </a:p>
          <a:p>
            <a:r>
              <a:rPr lang="en-US" dirty="0"/>
              <a:t>YB – Yottabytes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57967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ASCII – American Standard Code for Information Interchange</a:t>
            </a:r>
            <a:r>
              <a:rPr lang="en-US" altLang="zh-CN" dirty="0"/>
              <a:t>,</a:t>
            </a:r>
            <a:r>
              <a:rPr lang="zh-CN" altLang="en-US" dirty="0"/>
              <a:t> </a:t>
            </a:r>
            <a:r>
              <a:rPr lang="en-US" altLang="zh-CN" dirty="0"/>
              <a:t>firstly</a:t>
            </a:r>
            <a:r>
              <a:rPr lang="zh-CN" altLang="en-US" dirty="0"/>
              <a:t> </a:t>
            </a:r>
            <a:r>
              <a:rPr lang="en-US" altLang="zh-CN" dirty="0"/>
              <a:t>published</a:t>
            </a:r>
            <a:r>
              <a:rPr lang="zh-CN" altLang="en-US" dirty="0"/>
              <a:t> </a:t>
            </a:r>
            <a:r>
              <a:rPr lang="en-US" altLang="zh-CN" dirty="0"/>
              <a:t>in</a:t>
            </a:r>
            <a:r>
              <a:rPr lang="zh-CN" altLang="en-US" dirty="0"/>
              <a:t> </a:t>
            </a:r>
            <a:r>
              <a:rPr lang="en-US" altLang="zh-CN" dirty="0"/>
              <a:t>1963</a:t>
            </a:r>
            <a:r>
              <a:rPr lang="zh-CN" altLang="en-US" dirty="0"/>
              <a:t>， </a:t>
            </a:r>
            <a:r>
              <a:rPr lang="en-US" altLang="zh-CN" dirty="0"/>
              <a:t>using</a:t>
            </a:r>
            <a:r>
              <a:rPr lang="zh-CN" altLang="en-US" dirty="0"/>
              <a:t> </a:t>
            </a:r>
            <a:r>
              <a:rPr lang="en-US" altLang="zh-CN" dirty="0"/>
              <a:t>7</a:t>
            </a:r>
            <a:r>
              <a:rPr lang="zh-CN" altLang="en-US" dirty="0"/>
              <a:t> </a:t>
            </a:r>
            <a:r>
              <a:rPr lang="en-US" altLang="zh-CN" dirty="0"/>
              <a:t>or</a:t>
            </a:r>
            <a:r>
              <a:rPr lang="zh-CN" altLang="en-US" dirty="0"/>
              <a:t> </a:t>
            </a:r>
            <a:r>
              <a:rPr lang="en-US" altLang="zh-CN" dirty="0"/>
              <a:t>8</a:t>
            </a:r>
            <a:r>
              <a:rPr lang="zh-CN" altLang="en-US" dirty="0"/>
              <a:t> </a:t>
            </a:r>
            <a:r>
              <a:rPr lang="en-US" altLang="zh-CN" dirty="0"/>
              <a:t>bits</a:t>
            </a:r>
            <a:r>
              <a:rPr lang="zh-CN" altLang="en-US" dirty="0"/>
              <a:t> </a:t>
            </a:r>
            <a:r>
              <a:rPr lang="en-US" altLang="zh-CN" dirty="0"/>
              <a:t>to</a:t>
            </a:r>
            <a:r>
              <a:rPr lang="zh-CN" altLang="en-US" dirty="0"/>
              <a:t> </a:t>
            </a:r>
            <a:r>
              <a:rPr lang="en-US" altLang="zh-CN" dirty="0"/>
              <a:t>represent</a:t>
            </a:r>
            <a:r>
              <a:rPr lang="zh-CN" altLang="en-US" dirty="0"/>
              <a:t> </a:t>
            </a:r>
            <a:r>
              <a:rPr lang="en-US" altLang="zh-CN" dirty="0"/>
              <a:t>major</a:t>
            </a:r>
            <a:r>
              <a:rPr lang="zh-CN" altLang="en-US" dirty="0"/>
              <a:t> </a:t>
            </a:r>
            <a:r>
              <a:rPr lang="en-US" altLang="zh-CN" dirty="0"/>
              <a:t>English</a:t>
            </a:r>
            <a:r>
              <a:rPr lang="zh-CN" altLang="en-US" dirty="0"/>
              <a:t> </a:t>
            </a:r>
            <a:r>
              <a:rPr lang="en-US" altLang="zh-CN" dirty="0"/>
              <a:t>characters</a:t>
            </a:r>
          </a:p>
          <a:p>
            <a:r>
              <a:rPr lang="en-US" altLang="zh-CN" dirty="0"/>
              <a:t>Unicode</a:t>
            </a:r>
            <a:r>
              <a:rPr lang="zh-CN" altLang="en-US" dirty="0"/>
              <a:t> </a:t>
            </a:r>
            <a:r>
              <a:rPr lang="en-US" altLang="zh-CN" dirty="0"/>
              <a:t>–</a:t>
            </a:r>
            <a:r>
              <a:rPr lang="zh-CN" altLang="en-US" dirty="0"/>
              <a:t> </a:t>
            </a:r>
            <a:r>
              <a:rPr lang="en-US" altLang="zh-CN" dirty="0"/>
              <a:t>published</a:t>
            </a:r>
            <a:r>
              <a:rPr lang="zh-CN" altLang="en-US" dirty="0"/>
              <a:t> </a:t>
            </a:r>
            <a:r>
              <a:rPr lang="en-US" altLang="zh-CN" dirty="0"/>
              <a:t>in</a:t>
            </a:r>
            <a:r>
              <a:rPr lang="zh-CN" altLang="en-US" dirty="0"/>
              <a:t> </a:t>
            </a:r>
            <a:r>
              <a:rPr lang="en-US" altLang="zh-CN" dirty="0"/>
              <a:t>1991,</a:t>
            </a:r>
            <a:r>
              <a:rPr lang="zh-CN" altLang="en-US" dirty="0"/>
              <a:t> </a:t>
            </a:r>
            <a:r>
              <a:rPr lang="en-US" altLang="zh-CN" dirty="0"/>
              <a:t>modern</a:t>
            </a:r>
            <a:r>
              <a:rPr lang="zh-CN" altLang="en-US" dirty="0"/>
              <a:t> </a:t>
            </a:r>
            <a:r>
              <a:rPr lang="en-US" altLang="zh-CN" dirty="0"/>
              <a:t>and</a:t>
            </a:r>
            <a:r>
              <a:rPr lang="zh-CN" altLang="en-US" dirty="0"/>
              <a:t> </a:t>
            </a:r>
            <a:r>
              <a:rPr lang="en-US" altLang="zh-CN" dirty="0"/>
              <a:t>comprehensive</a:t>
            </a:r>
            <a:r>
              <a:rPr lang="zh-CN" altLang="en-US" dirty="0"/>
              <a:t> </a:t>
            </a:r>
            <a:r>
              <a:rPr lang="en-US" altLang="zh-CN" dirty="0"/>
              <a:t>encoding</a:t>
            </a:r>
            <a:r>
              <a:rPr lang="zh-CN" altLang="en-US" dirty="0"/>
              <a:t> </a:t>
            </a:r>
            <a:r>
              <a:rPr lang="en-US" altLang="zh-CN" dirty="0"/>
              <a:t>scheme</a:t>
            </a:r>
            <a:r>
              <a:rPr lang="zh-CN" altLang="en-US" dirty="0"/>
              <a:t> </a:t>
            </a:r>
            <a:r>
              <a:rPr lang="en-US" altLang="zh-CN" dirty="0"/>
              <a:t>represented</a:t>
            </a:r>
            <a:r>
              <a:rPr lang="zh-CN" altLang="en-US" dirty="0"/>
              <a:t> </a:t>
            </a:r>
            <a:r>
              <a:rPr lang="en-US" altLang="zh-CN" dirty="0"/>
              <a:t>for</a:t>
            </a:r>
            <a:r>
              <a:rPr lang="zh-CN" altLang="en-US" dirty="0"/>
              <a:t> </a:t>
            </a:r>
            <a:r>
              <a:rPr lang="en-US" altLang="zh-CN" dirty="0"/>
              <a:t>almost</a:t>
            </a:r>
            <a:r>
              <a:rPr lang="zh-CN" altLang="en-US" dirty="0"/>
              <a:t> </a:t>
            </a:r>
            <a:r>
              <a:rPr lang="en-US" altLang="zh-CN" dirty="0"/>
              <a:t>all</a:t>
            </a:r>
            <a:r>
              <a:rPr lang="zh-CN" altLang="en-US" dirty="0"/>
              <a:t> </a:t>
            </a:r>
            <a:r>
              <a:rPr lang="en-US" altLang="zh-CN" dirty="0"/>
              <a:t>world</a:t>
            </a:r>
            <a:r>
              <a:rPr lang="zh-CN" altLang="en-US" dirty="0"/>
              <a:t> </a:t>
            </a:r>
            <a:r>
              <a:rPr lang="en-US" altLang="zh-CN" dirty="0"/>
              <a:t>languages.</a:t>
            </a:r>
          </a:p>
          <a:p>
            <a:endParaRPr lang="en-US" dirty="0"/>
          </a:p>
          <a:p>
            <a:r>
              <a:rPr lang="en-US" dirty="0"/>
              <a:t>Unicode – theoretically support up to over 1 million code, although currently defined characters and symbols are 159,000+.</a:t>
            </a:r>
          </a:p>
          <a:p>
            <a:r>
              <a:rPr lang="en-US" dirty="0"/>
              <a:t>UTF-8: uses 1-4 bytes, used mainly in Web (HTML), Linux, JSON, Git</a:t>
            </a:r>
          </a:p>
          <a:p>
            <a:r>
              <a:rPr lang="en-US" dirty="0"/>
              <a:t>UTF-16: uses 2 or 4 bytes, mainly used to process Asian text like Chinese, Japanese,, or Korean.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41539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To represent a real number like </a:t>
            </a:r>
            <a:r>
              <a:rPr lang="en-US" sz="1200" b="1" i="0" u="none" strike="noStrike" kern="1200" cap="none" dirty="0">
                <a:solidFill>
                  <a:schemeClr val="dk1"/>
                </a:solidFill>
                <a:effectLst/>
                <a:latin typeface="Arial"/>
                <a:ea typeface="Arial"/>
                <a:cs typeface="Arial"/>
                <a:sym typeface="Arial"/>
              </a:rPr>
              <a:t>9.625</a:t>
            </a:r>
            <a:r>
              <a:rPr lang="en-US" sz="1200" b="0" i="0" u="none" strike="noStrike" kern="1200" cap="none" dirty="0">
                <a:solidFill>
                  <a:schemeClr val="dk1"/>
                </a:solidFill>
                <a:effectLst/>
                <a:latin typeface="Arial"/>
                <a:ea typeface="Arial"/>
                <a:cs typeface="Arial"/>
                <a:sym typeface="Arial"/>
              </a:rPr>
              <a:t> in computer systems, processors use the </a:t>
            </a:r>
            <a:r>
              <a:rPr lang="en-US" sz="1200" b="1" i="0" u="none" strike="noStrike" kern="1200" cap="none" dirty="0">
                <a:solidFill>
                  <a:schemeClr val="dk1"/>
                </a:solidFill>
                <a:effectLst/>
                <a:latin typeface="Arial"/>
                <a:ea typeface="Arial"/>
                <a:cs typeface="Arial"/>
                <a:sym typeface="Arial"/>
              </a:rPr>
              <a:t>IEEE 754 floating-point standard</a:t>
            </a:r>
            <a:r>
              <a:rPr lang="en-US" sz="1200" b="0" i="0" u="none" strike="noStrike" kern="1200" cap="none" dirty="0">
                <a:solidFill>
                  <a:schemeClr val="dk1"/>
                </a:solidFill>
                <a:effectLst/>
                <a:latin typeface="Arial"/>
                <a:ea typeface="Arial"/>
                <a:cs typeface="Arial"/>
                <a:sym typeface="Arial"/>
              </a:rPr>
              <a:t>. This system works like scientific notation but uses binary (base 2).</a:t>
            </a:r>
          </a:p>
          <a:p>
            <a:r>
              <a:rPr lang="en-US" dirty="0"/>
              <a:t>1 bit for sign (positive or negative)</a:t>
            </a:r>
          </a:p>
          <a:p>
            <a:r>
              <a:rPr lang="en-US" dirty="0"/>
              <a:t>8 bits represent the magnitude</a:t>
            </a:r>
          </a:p>
          <a:p>
            <a:r>
              <a:rPr lang="en-US" dirty="0"/>
              <a:t>13 bits represent the precision bits after the decimal point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159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44,100 samples in a sec of digital music.</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0369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relationship between machine language and binary data:</a:t>
            </a:r>
          </a:p>
          <a:p>
            <a:r>
              <a:rPr lang="en-US" dirty="0"/>
              <a:t>When stored in the memory, the file is in the form of binary data.</a:t>
            </a:r>
          </a:p>
          <a:p>
            <a:r>
              <a:rPr lang="en-US" dirty="0"/>
              <a:t>When pulled into the CPU, the binary data are converted to machine instructions, also referred to as machine language.</a:t>
            </a:r>
          </a:p>
          <a:p>
            <a:r>
              <a:rPr lang="en-US" dirty="0"/>
              <a:t>Depending on the location, machine language refers to a different concept, although in both locations, it is tightly related to the binary data.</a:t>
            </a:r>
          </a:p>
          <a:p>
            <a:endParaRPr lang="en-US" dirty="0"/>
          </a:p>
          <a:p>
            <a:r>
              <a:rPr lang="en-US" dirty="0"/>
              <a:t>X86 for PC, ARM for mobile devices and modern laptops.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1041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steps are as follows. The program in the form of machine language 1 0 1 0 0 0 0 1, 1 0 1 1 1 0 0 0, 1 0 0 1 1 1 1 0, 0 0 0 1 1 0 1 0, 1 1 0 1 1 1 0 0, and so forth, is fetched from the main memory R A M. </a:t>
            </a:r>
            <a:br>
              <a:rPr lang="en-IN" sz="1200" b="0" i="0" u="none" strike="noStrike" kern="1200" cap="none" dirty="0">
                <a:solidFill>
                  <a:schemeClr val="dk1"/>
                </a:solidFill>
                <a:effectLst/>
                <a:latin typeface="Arial"/>
                <a:ea typeface="Arial"/>
                <a:cs typeface="Arial"/>
                <a:sym typeface="Arial"/>
              </a:rPr>
            </a:br>
            <a:r>
              <a:rPr lang="en-IN" sz="1200" b="0" i="0" u="none" strike="noStrike" kern="1200" cap="none" dirty="0">
                <a:solidFill>
                  <a:schemeClr val="dk1"/>
                </a:solidFill>
                <a:effectLst/>
                <a:latin typeface="Arial"/>
                <a:ea typeface="Arial"/>
                <a:cs typeface="Arial"/>
                <a:sym typeface="Arial"/>
              </a:rPr>
              <a:t>The binary number 1 0 1 0 0 0 0 1 is decoded from the main memory to determine which operation to perform. </a:t>
            </a:r>
            <a:br>
              <a:rPr lang="en-IN" sz="1200" b="0" i="0" u="none" strike="noStrike" kern="1200" cap="none" dirty="0">
                <a:solidFill>
                  <a:schemeClr val="dk1"/>
                </a:solidFill>
                <a:effectLst/>
                <a:latin typeface="Arial"/>
                <a:ea typeface="Arial"/>
                <a:cs typeface="Arial"/>
                <a:sym typeface="Arial"/>
              </a:rPr>
            </a:br>
            <a:r>
              <a:rPr lang="en-IN" sz="1200" b="0" i="0" u="none" strike="noStrike" kern="1200" cap="none" dirty="0">
                <a:solidFill>
                  <a:schemeClr val="dk1"/>
                </a:solidFill>
                <a:effectLst/>
                <a:latin typeface="Arial"/>
                <a:ea typeface="Arial"/>
                <a:cs typeface="Arial"/>
                <a:sym typeface="Arial"/>
              </a:rPr>
              <a:t>The decoded program is sent to C P U to execute the instruction and perform the operation.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77630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Assembly</a:t>
            </a:r>
            <a:r>
              <a:rPr lang="zh-CN" altLang="en-US" dirty="0"/>
              <a:t> </a:t>
            </a:r>
            <a:r>
              <a:rPr lang="en-US" altLang="zh-CN" dirty="0"/>
              <a:t>language</a:t>
            </a:r>
            <a:r>
              <a:rPr lang="zh-CN" altLang="en-US" dirty="0"/>
              <a:t> </a:t>
            </a:r>
            <a:r>
              <a:rPr lang="en-US" altLang="zh-CN" dirty="0"/>
              <a:t>was</a:t>
            </a:r>
            <a:r>
              <a:rPr lang="zh-CN" altLang="en-US" dirty="0"/>
              <a:t> </a:t>
            </a:r>
            <a:r>
              <a:rPr lang="en-US" altLang="zh-CN" dirty="0"/>
              <a:t>invented</a:t>
            </a:r>
            <a:r>
              <a:rPr lang="zh-CN" altLang="en-US" dirty="0"/>
              <a:t> </a:t>
            </a:r>
            <a:r>
              <a:rPr lang="en-US" altLang="zh-CN" dirty="0"/>
              <a:t>in</a:t>
            </a:r>
            <a:r>
              <a:rPr lang="zh-CN" altLang="en-US" dirty="0"/>
              <a:t> </a:t>
            </a:r>
            <a:r>
              <a:rPr lang="en-US" altLang="zh-CN" dirty="0"/>
              <a:t>1947.</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26455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(Python’s</a:t>
            </a:r>
            <a:r>
              <a:rPr lang="zh-CN" altLang="en-US" dirty="0"/>
              <a:t> </a:t>
            </a:r>
            <a:r>
              <a:rPr lang="en-US" altLang="zh-CN" dirty="0"/>
              <a:t>compilation</a:t>
            </a:r>
            <a:r>
              <a:rPr lang="zh-CN" altLang="en-US" dirty="0"/>
              <a:t> </a:t>
            </a:r>
            <a:r>
              <a:rPr lang="en-US" altLang="zh-CN" dirty="0"/>
              <a:t>process</a:t>
            </a:r>
            <a:r>
              <a:rPr lang="zh-CN" altLang="en-US" dirty="0"/>
              <a:t> </a:t>
            </a:r>
            <a:r>
              <a:rPr lang="en-US" altLang="zh-CN" dirty="0"/>
              <a:t>is</a:t>
            </a:r>
            <a:r>
              <a:rPr lang="zh-CN" altLang="en-US" dirty="0"/>
              <a:t> </a:t>
            </a:r>
            <a:r>
              <a:rPr lang="en-US" altLang="zh-CN" dirty="0"/>
              <a:t>performed</a:t>
            </a:r>
            <a:r>
              <a:rPr lang="zh-CN" altLang="en-US" dirty="0"/>
              <a:t> </a:t>
            </a:r>
            <a:r>
              <a:rPr lang="en-US" altLang="zh-CN" dirty="0"/>
              <a:t>automatically</a:t>
            </a:r>
            <a:r>
              <a:rPr lang="zh-CN" altLang="en-US" dirty="0"/>
              <a:t> </a:t>
            </a:r>
            <a:r>
              <a:rPr lang="en-US" altLang="zh-CN" dirty="0"/>
              <a:t>and</a:t>
            </a:r>
            <a:r>
              <a:rPr lang="zh-CN" altLang="en-US" dirty="0"/>
              <a:t> </a:t>
            </a:r>
            <a:r>
              <a:rPr lang="en-US" altLang="zh-CN" dirty="0"/>
              <a:t>hidden)</a:t>
            </a:r>
          </a:p>
          <a:p>
            <a:r>
              <a:rPr lang="en-US" dirty="0"/>
              <a:t>The </a:t>
            </a:r>
            <a:r>
              <a:rPr lang="en-US" sz="1200" b="1" i="0" u="none" strike="noStrike" kern="1200" cap="none" dirty="0">
                <a:solidFill>
                  <a:schemeClr val="dk1"/>
                </a:solidFill>
                <a:effectLst/>
                <a:latin typeface="Arial"/>
                <a:ea typeface="Arial"/>
                <a:cs typeface="Arial"/>
                <a:sym typeface="Arial"/>
              </a:rPr>
              <a:t>__</a:t>
            </a:r>
            <a:r>
              <a:rPr lang="en-US" sz="1200" b="1" i="0" u="none" strike="noStrike" kern="1200" cap="none" dirty="0" err="1">
                <a:solidFill>
                  <a:schemeClr val="dk1"/>
                </a:solidFill>
                <a:effectLst/>
                <a:latin typeface="Arial"/>
                <a:ea typeface="Arial"/>
                <a:cs typeface="Arial"/>
                <a:sym typeface="Arial"/>
              </a:rPr>
              <a:t>pycache</a:t>
            </a:r>
            <a:r>
              <a:rPr lang="en-US" sz="1200" b="1" i="0" u="none" strike="noStrike" kern="1200" cap="none" dirty="0">
                <a:solidFill>
                  <a:schemeClr val="dk1"/>
                </a:solidFill>
                <a:effectLst/>
                <a:latin typeface="Arial"/>
                <a:ea typeface="Arial"/>
                <a:cs typeface="Arial"/>
                <a:sym typeface="Arial"/>
              </a:rPr>
              <a:t>__ folder is a directory</a:t>
            </a:r>
            <a:r>
              <a:rPr lang="en-US" dirty="0"/>
              <a:t> created automatically by Python to store </a:t>
            </a:r>
            <a:r>
              <a:rPr lang="en-US" sz="1200" b="1" i="0" u="none" strike="noStrike" kern="1200" cap="none" dirty="0">
                <a:solidFill>
                  <a:schemeClr val="dk1"/>
                </a:solidFill>
                <a:effectLst/>
                <a:latin typeface="Arial"/>
                <a:ea typeface="Arial"/>
                <a:cs typeface="Arial"/>
                <a:sym typeface="Arial"/>
              </a:rPr>
              <a:t>compiled bytecode</a:t>
            </a:r>
            <a:r>
              <a:rPr lang="en-US" dirty="0"/>
              <a:t> files (</a:t>
            </a:r>
            <a:r>
              <a:rPr lang="en-US" sz="1200" b="0" i="0" u="none" strike="noStrike" kern="1200" cap="none" dirty="0">
                <a:solidFill>
                  <a:schemeClr val="dk1"/>
                </a:solidFill>
                <a:effectLst/>
                <a:latin typeface="Arial"/>
                <a:ea typeface="Arial"/>
                <a:cs typeface="Arial"/>
                <a:sym typeface="Arial"/>
              </a:rPr>
              <a:t>.</a:t>
            </a:r>
            <a:r>
              <a:rPr lang="en-US" sz="1200" b="0" i="0" u="none" strike="noStrike" kern="1200" cap="none" dirty="0" err="1">
                <a:solidFill>
                  <a:schemeClr val="dk1"/>
                </a:solidFill>
                <a:effectLst/>
                <a:latin typeface="Arial"/>
                <a:ea typeface="Arial"/>
                <a:cs typeface="Arial"/>
                <a:sym typeface="Arial"/>
              </a:rPr>
              <a:t>pyc</a:t>
            </a:r>
            <a:r>
              <a:rPr lang="en-US" dirty="0"/>
              <a:t>).</a:t>
            </a:r>
            <a:endParaRPr lang="en-US" altLang="zh-CN" dirty="0"/>
          </a:p>
          <a:p>
            <a:r>
              <a:rPr lang="en-US" altLang="zh-CN" dirty="0"/>
              <a:t>JIT</a:t>
            </a:r>
            <a:r>
              <a:rPr lang="zh-CN" altLang="en-US" dirty="0"/>
              <a:t> </a:t>
            </a:r>
            <a:r>
              <a:rPr lang="en-US" altLang="zh-CN" dirty="0"/>
              <a:t>turn</a:t>
            </a:r>
            <a:r>
              <a:rPr lang="zh-CN" altLang="en-US" dirty="0"/>
              <a:t> </a:t>
            </a:r>
            <a:r>
              <a:rPr lang="en-US" altLang="zh-CN" dirty="0"/>
              <a:t>the</a:t>
            </a:r>
            <a:r>
              <a:rPr lang="zh-CN" altLang="en-US" dirty="0"/>
              <a:t> </a:t>
            </a:r>
            <a:r>
              <a:rPr lang="en-US" altLang="zh-CN" dirty="0"/>
              <a:t>frequently</a:t>
            </a:r>
            <a:r>
              <a:rPr lang="zh-CN" altLang="en-US" dirty="0"/>
              <a:t> </a:t>
            </a:r>
            <a:r>
              <a:rPr lang="en-US" altLang="zh-CN" dirty="0"/>
              <a:t>used</a:t>
            </a:r>
            <a:r>
              <a:rPr lang="zh-CN" altLang="en-US" dirty="0"/>
              <a:t> </a:t>
            </a:r>
            <a:r>
              <a:rPr lang="en-US" altLang="zh-CN" dirty="0"/>
              <a:t>bytecode</a:t>
            </a:r>
            <a:r>
              <a:rPr lang="zh-CN" altLang="en-US" dirty="0"/>
              <a:t> </a:t>
            </a:r>
            <a:r>
              <a:rPr lang="en-US" altLang="zh-CN" dirty="0"/>
              <a:t>to</a:t>
            </a:r>
            <a:r>
              <a:rPr lang="zh-CN" altLang="en-US" dirty="0"/>
              <a:t> </a:t>
            </a:r>
            <a:r>
              <a:rPr lang="en-US" altLang="zh-CN" dirty="0"/>
              <a:t>native</a:t>
            </a:r>
            <a:r>
              <a:rPr lang="zh-CN" altLang="en-US" dirty="0"/>
              <a:t> </a:t>
            </a:r>
            <a:r>
              <a:rPr lang="en-US" altLang="zh-CN" dirty="0"/>
              <a:t>machine</a:t>
            </a:r>
            <a:r>
              <a:rPr lang="zh-CN" altLang="en-US" dirty="0"/>
              <a:t> </a:t>
            </a:r>
            <a:r>
              <a:rPr lang="en-US" altLang="zh-CN" dirty="0"/>
              <a:t>code</a:t>
            </a:r>
            <a:r>
              <a:rPr lang="zh-CN" altLang="en-US" dirty="0"/>
              <a:t> </a:t>
            </a:r>
            <a:r>
              <a:rPr lang="en-US" altLang="zh-CN" dirty="0"/>
              <a:t>for</a:t>
            </a:r>
            <a:r>
              <a:rPr lang="zh-CN" altLang="en-US" dirty="0"/>
              <a:t> </a:t>
            </a:r>
            <a:r>
              <a:rPr lang="en-US" altLang="zh-CN" dirty="0"/>
              <a:t>faster</a:t>
            </a:r>
            <a:r>
              <a:rPr lang="zh-CN" altLang="en-US" dirty="0"/>
              <a:t> </a:t>
            </a:r>
            <a:r>
              <a:rPr lang="en-US" altLang="zh-CN" dirty="0"/>
              <a:t>execution.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2575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76974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36</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indent="0" algn="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dirty="0">
                <a:solidFill>
                  <a:srgbClr val="201F1E"/>
                </a:solidFill>
                <a:effectLst/>
                <a:latin typeface="Verdana" panose="020B0604030504040204" pitchFamily="34" charset="0"/>
                <a:ea typeface="Verdana" panose="020B0604030504040204" pitchFamily="34" charset="0"/>
              </a:rPr>
              <a:t>2023, 2021, 2018</a:t>
            </a:r>
            <a:r>
              <a:rPr lang="en-US" sz="1200" dirty="0">
                <a:latin typeface="Verdana" panose="020B0604030504040204" pitchFamily="34" charset="0"/>
                <a:ea typeface="Verdana" panose="020B0604030504040204" pitchFamily="34" charset="0"/>
              </a:rPr>
              <a:t>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customXml" Target="../ink/ink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p:txBody>
          <a:bodyPr anchor="ctr"/>
          <a:lstStyle/>
          <a:p>
            <a:r>
              <a:rPr lang="en-US">
                <a:solidFill>
                  <a:schemeClr val="tx2"/>
                </a:solidFill>
                <a:ea typeface="+mn-ea"/>
              </a:rPr>
              <a:t>Starting Out with Python</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p:txBody>
          <a:bodyPr anchor="ctr"/>
          <a:lstStyle/>
          <a:p>
            <a:r>
              <a:rPr lang="en-US" sz="2000">
                <a:solidFill>
                  <a:schemeClr val="tx2"/>
                </a:solidFill>
                <a:ea typeface="+mn-ea"/>
              </a:rPr>
              <a:t>Sixth</a:t>
            </a:r>
            <a:r>
              <a:rPr lang="en-US">
                <a:solidFill>
                  <a:schemeClr val="tx2"/>
                </a:solidFill>
              </a:rPr>
              <a:t> Edition</a:t>
            </a:r>
          </a:p>
        </p:txBody>
      </p:sp>
      <p:pic>
        <p:nvPicPr>
          <p:cNvPr id="4" name="Picture 3" descr="Front Cover: Starting Out with Python, Sixth Edition by Gaddi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532" y="1625669"/>
            <a:ext cx="3707341" cy="4597105"/>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029200" y="1901370"/>
            <a:ext cx="3657600" cy="1191079"/>
          </a:xfrm>
        </p:spPr>
        <p:txBody>
          <a:bodyPr/>
          <a:lstStyle/>
          <a:p>
            <a:pPr marL="0" algn="ctr"/>
            <a:r>
              <a:rPr lang="en-US" b="1">
                <a:solidFill>
                  <a:schemeClr val="tx1"/>
                </a:solidFill>
                <a:latin typeface="+mn-lt"/>
              </a:rPr>
              <a:t>Chapter 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p:txBody>
          <a:bodyPr/>
          <a:lstStyle/>
          <a:p>
            <a:r>
              <a:rPr lang="en-US"/>
              <a:t>Introduction to Computers and Programming</a:t>
            </a:r>
          </a:p>
        </p:txBody>
      </p:sp>
      <p:pic>
        <p:nvPicPr>
          <p:cNvPr id="12" name="Picture Placeholder 21" descr="Pearson Logo">
            <a:extLst>
              <a:ext uri="{FF2B5EF4-FFF2-40B4-BE49-F238E27FC236}">
                <a16:creationId xmlns:a16="http://schemas.microsoft.com/office/drawing/2014/main" id="{CF37FB16-D567-464F-82AB-B4CF4A031A4F}"/>
              </a:ext>
            </a:extLst>
          </p:cNvPr>
          <p:cNvPicPr>
            <a:picLocks noChangeAspect="1"/>
          </p:cNvPicPr>
          <p:nvPr/>
        </p:nvPicPr>
        <p:blipFill>
          <a:blip r:embed="rId4"/>
          <a:srcRect t="22152" b="22152"/>
          <a:stretch>
            <a:fillRect/>
          </a:stretch>
        </p:blipFill>
        <p:spPr>
          <a:xfrm>
            <a:off x="315677" y="6420639"/>
            <a:ext cx="1176574" cy="296443"/>
          </a:xfrm>
          <a:prstGeom prst="rect">
            <a:avLst/>
          </a:prstGeom>
          <a:noFill/>
          <a:ln>
            <a:no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73073" y="6419201"/>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a:t>
            </a:r>
            <a:r>
              <a:rPr lang="en-US" altLang="en-US" sz="1200" b="0">
                <a:cs typeface="Verdana" panose="020B0604030504040204" pitchFamily="34" charset="0"/>
              </a:rPr>
              <a:t> </a:t>
            </a:r>
            <a:r>
              <a:rPr lang="en-US" b="0" i="0">
                <a:solidFill>
                  <a:srgbClr val="201F1E"/>
                </a:solidFill>
                <a:effectLst/>
              </a:rPr>
              <a:t>2023, 2021, 2018</a:t>
            </a:r>
            <a:r>
              <a:rPr lang="en-US"/>
              <a:t>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656645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Topics</a:t>
            </a:r>
            <a:endParaRPr lang="en-US"/>
          </a:p>
        </p:txBody>
      </p:sp>
      <p:sp>
        <p:nvSpPr>
          <p:cNvPr id="4" name="Content Placeholder 3"/>
          <p:cNvSpPr>
            <a:spLocks noGrp="1"/>
          </p:cNvSpPr>
          <p:nvPr>
            <p:ph sz="quarter" idx="13"/>
          </p:nvPr>
        </p:nvSpPr>
        <p:spPr>
          <a:xfrm>
            <a:off x="457200" y="1556327"/>
            <a:ext cx="8229600" cy="3015673"/>
          </a:xfrm>
        </p:spPr>
        <p:txBody>
          <a:bodyPr/>
          <a:lstStyle/>
          <a:p>
            <a:pPr marL="432" indent="0">
              <a:buNone/>
            </a:pPr>
            <a:r>
              <a:rPr lang="en-US" altLang="en-US" dirty="0"/>
              <a:t>1-1 Introduction</a:t>
            </a:r>
          </a:p>
          <a:p>
            <a:pPr marL="432" indent="0">
              <a:buNone/>
            </a:pPr>
            <a:r>
              <a:rPr lang="en-US" altLang="en-US" dirty="0"/>
              <a:t>1-2 Hardware and Software</a:t>
            </a:r>
          </a:p>
          <a:p>
            <a:pPr marL="432" indent="0">
              <a:buNone/>
            </a:pPr>
            <a:r>
              <a:rPr lang="en-US" altLang="en-US" dirty="0"/>
              <a:t>1-3 How Computers Store Data</a:t>
            </a:r>
          </a:p>
          <a:p>
            <a:pPr marL="432" indent="0">
              <a:buNone/>
            </a:pPr>
            <a:r>
              <a:rPr lang="en-US" altLang="en-US" dirty="0"/>
              <a:t>1-4 How a Program Works</a:t>
            </a:r>
          </a:p>
          <a:p>
            <a:pPr marL="432" indent="0">
              <a:buNone/>
            </a:pPr>
            <a:r>
              <a:rPr lang="en-US" altLang="en-US" dirty="0"/>
              <a:t>1-5 Using Python</a:t>
            </a:r>
            <a:endParaRPr lang="en-US" dirty="0"/>
          </a:p>
        </p:txBody>
      </p:sp>
      <p:sp>
        <p:nvSpPr>
          <p:cNvPr id="3" name="TextBox 2">
            <a:extLst>
              <a:ext uri="{FF2B5EF4-FFF2-40B4-BE49-F238E27FC236}">
                <a16:creationId xmlns:a16="http://schemas.microsoft.com/office/drawing/2014/main" id="{70270A88-BC4D-2CCB-0138-F04273841EA4}"/>
              </a:ext>
            </a:extLst>
          </p:cNvPr>
          <p:cNvSpPr txBox="1"/>
          <p:nvPr/>
        </p:nvSpPr>
        <p:spPr>
          <a:xfrm>
            <a:off x="457200" y="4572001"/>
            <a:ext cx="8229600" cy="1323439"/>
          </a:xfrm>
          <a:prstGeom prst="rect">
            <a:avLst/>
          </a:prstGeom>
          <a:noFill/>
        </p:spPr>
        <p:txBody>
          <a:bodyPr wrap="square" rtlCol="0">
            <a:spAutoFit/>
          </a:bodyPr>
          <a:lstStyle/>
          <a:p>
            <a:r>
              <a:rPr lang="en-US" sz="1600" dirty="0">
                <a:solidFill>
                  <a:schemeClr val="accent5">
                    <a:lumMod val="75000"/>
                  </a:schemeClr>
                </a:solidFill>
              </a:rPr>
              <a:t>Please pay attention to the </a:t>
            </a:r>
            <a:r>
              <a:rPr lang="en-US" sz="1600" b="1" u="sng" dirty="0">
                <a:solidFill>
                  <a:schemeClr val="accent5">
                    <a:lumMod val="75000"/>
                  </a:schemeClr>
                </a:solidFill>
              </a:rPr>
              <a:t>numeric system </a:t>
            </a:r>
            <a:r>
              <a:rPr lang="en-US" sz="1600" dirty="0">
                <a:solidFill>
                  <a:schemeClr val="accent5">
                    <a:lumMod val="75000"/>
                  </a:schemeClr>
                </a:solidFill>
              </a:rPr>
              <a:t>for each section contained in a chapter, because we are going to use this number to identify the lectures and quizzes.</a:t>
            </a:r>
          </a:p>
          <a:p>
            <a:r>
              <a:rPr lang="en-US" sz="1600" dirty="0">
                <a:solidFill>
                  <a:schemeClr val="accent5">
                    <a:lumMod val="75000"/>
                  </a:schemeClr>
                </a:solidFill>
              </a:rPr>
              <a:t>For example, “1-2-Lecture” means the video lecture for chapter 1 section 2 on subject of “Hardware and Software”, and “1-2-Quiz” refers to the quizzes designed for chapter 1 section 2 on subject “Hardware and Software”.</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56D2-8941-4551-9492-02D5FE92CAED}"/>
              </a:ext>
            </a:extLst>
          </p:cNvPr>
          <p:cNvSpPr>
            <a:spLocks noGrp="1"/>
          </p:cNvSpPr>
          <p:nvPr>
            <p:ph type="title"/>
          </p:nvPr>
        </p:nvSpPr>
        <p:spPr/>
        <p:txBody>
          <a:bodyPr/>
          <a:lstStyle/>
          <a:p>
            <a:r>
              <a:rPr lang="en-US" altLang="en-US" dirty="0"/>
              <a:t>1-1 Introduction</a:t>
            </a:r>
            <a:endParaRPr lang="en-US" dirty="0"/>
          </a:p>
        </p:txBody>
      </p:sp>
      <p:sp>
        <p:nvSpPr>
          <p:cNvPr id="3" name="Content Placeholder 2">
            <a:extLst>
              <a:ext uri="{FF2B5EF4-FFF2-40B4-BE49-F238E27FC236}">
                <a16:creationId xmlns:a16="http://schemas.microsoft.com/office/drawing/2014/main" id="{F71B0C7F-9003-477A-A619-DCB5DFC303F7}"/>
              </a:ext>
            </a:extLst>
          </p:cNvPr>
          <p:cNvSpPr>
            <a:spLocks noGrp="1"/>
          </p:cNvSpPr>
          <p:nvPr>
            <p:ph sz="quarter" idx="13"/>
          </p:nvPr>
        </p:nvSpPr>
        <p:spPr>
          <a:xfrm>
            <a:off x="457200" y="1556327"/>
            <a:ext cx="8218488" cy="3930073"/>
          </a:xfrm>
        </p:spPr>
        <p:txBody>
          <a:bodyPr/>
          <a:lstStyle/>
          <a:p>
            <a:r>
              <a:rPr lang="en-US" altLang="en-US" b="1" dirty="0"/>
              <a:t>Computers can be programmed</a:t>
            </a:r>
          </a:p>
          <a:p>
            <a:pPr lvl="1"/>
            <a:r>
              <a:rPr lang="en-US" altLang="en-US" dirty="0"/>
              <a:t>Designed to do any job that a program tells them to</a:t>
            </a:r>
          </a:p>
          <a:p>
            <a:r>
              <a:rPr lang="en-US" altLang="en-US" b="1" dirty="0"/>
              <a:t>Program:</a:t>
            </a:r>
            <a:r>
              <a:rPr lang="en-US" altLang="en-US" dirty="0"/>
              <a:t> </a:t>
            </a:r>
            <a:r>
              <a:rPr lang="en-US" altLang="en-US" b="1" dirty="0"/>
              <a:t>set of instructions that a computer follows to perform a task</a:t>
            </a:r>
          </a:p>
          <a:p>
            <a:pPr lvl="1"/>
            <a:r>
              <a:rPr lang="en-US" altLang="en-US" dirty="0"/>
              <a:t>Commonly referred to as </a:t>
            </a:r>
            <a:r>
              <a:rPr lang="en-US" altLang="en-US" b="1" dirty="0"/>
              <a:t>Software</a:t>
            </a:r>
          </a:p>
          <a:p>
            <a:r>
              <a:rPr lang="en-US" altLang="en-US" b="1" dirty="0"/>
              <a:t>Programmer:</a:t>
            </a:r>
            <a:r>
              <a:rPr lang="en-US" altLang="en-US" dirty="0"/>
              <a:t> </a:t>
            </a:r>
            <a:r>
              <a:rPr lang="en-US" altLang="en-US" b="1" dirty="0"/>
              <a:t>person who can design, create, and test computer programs</a:t>
            </a:r>
          </a:p>
          <a:p>
            <a:pPr lvl="1"/>
            <a:r>
              <a:rPr lang="en-US" altLang="en-US" dirty="0"/>
              <a:t>Also known as software developer</a:t>
            </a:r>
            <a:endParaRPr lang="en-US" dirty="0"/>
          </a:p>
        </p:txBody>
      </p:sp>
    </p:spTree>
    <p:extLst>
      <p:ext uri="{BB962C8B-B14F-4D97-AF65-F5344CB8AC3E}">
        <p14:creationId xmlns:p14="http://schemas.microsoft.com/office/powerpoint/2010/main" val="1990684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58E2-01C0-4C04-B47C-4AD792FF2280}"/>
              </a:ext>
            </a:extLst>
          </p:cNvPr>
          <p:cNvSpPr>
            <a:spLocks noGrp="1"/>
          </p:cNvSpPr>
          <p:nvPr>
            <p:ph type="title"/>
          </p:nvPr>
        </p:nvSpPr>
        <p:spPr/>
        <p:txBody>
          <a:bodyPr/>
          <a:lstStyle/>
          <a:p>
            <a:r>
              <a:rPr lang="en-US" altLang="en-US" dirty="0"/>
              <a:t>1-2 Hardware and Software</a:t>
            </a:r>
            <a:endParaRPr lang="en-US" dirty="0"/>
          </a:p>
        </p:txBody>
      </p:sp>
      <p:sp>
        <p:nvSpPr>
          <p:cNvPr id="3" name="Content Placeholder 2">
            <a:extLst>
              <a:ext uri="{FF2B5EF4-FFF2-40B4-BE49-F238E27FC236}">
                <a16:creationId xmlns:a16="http://schemas.microsoft.com/office/drawing/2014/main" id="{ADF384C9-A271-48B8-81A8-257E7C03BFB0}"/>
              </a:ext>
            </a:extLst>
          </p:cNvPr>
          <p:cNvSpPr>
            <a:spLocks noGrp="1"/>
          </p:cNvSpPr>
          <p:nvPr>
            <p:ph sz="quarter" idx="13"/>
          </p:nvPr>
        </p:nvSpPr>
        <p:spPr>
          <a:xfrm>
            <a:off x="457200" y="1556327"/>
            <a:ext cx="8229600" cy="4036090"/>
          </a:xfrm>
        </p:spPr>
        <p:txBody>
          <a:bodyPr/>
          <a:lstStyle/>
          <a:p>
            <a:r>
              <a:rPr lang="en-US" altLang="en-US" b="1" dirty="0"/>
              <a:t>Hardware: The </a:t>
            </a:r>
            <a:r>
              <a:rPr lang="en-US" altLang="en-US" b="1" u="sng" dirty="0"/>
              <a:t>physical devices </a:t>
            </a:r>
            <a:r>
              <a:rPr lang="en-US" altLang="en-US" b="1" dirty="0"/>
              <a:t>that make up a computer</a:t>
            </a:r>
          </a:p>
          <a:p>
            <a:pPr lvl="1"/>
            <a:r>
              <a:rPr lang="en-US" altLang="en-US" dirty="0"/>
              <a:t>Computer is a system composed of several components that all work together</a:t>
            </a:r>
          </a:p>
          <a:p>
            <a:r>
              <a:rPr lang="en-US" altLang="en-US" b="1" dirty="0"/>
              <a:t>Typical major components:</a:t>
            </a:r>
          </a:p>
          <a:p>
            <a:pPr lvl="1"/>
            <a:r>
              <a:rPr lang="en-US" altLang="en-US" dirty="0"/>
              <a:t>Central processing unit</a:t>
            </a:r>
          </a:p>
          <a:p>
            <a:pPr lvl="1"/>
            <a:r>
              <a:rPr lang="en-US" altLang="en-US" dirty="0"/>
              <a:t>Main memory</a:t>
            </a:r>
          </a:p>
          <a:p>
            <a:pPr lvl="1"/>
            <a:r>
              <a:rPr lang="en-US" altLang="en-US" dirty="0"/>
              <a:t>Secondary storage devices</a:t>
            </a:r>
          </a:p>
          <a:p>
            <a:pPr lvl="1"/>
            <a:r>
              <a:rPr lang="en-US" altLang="en-US" dirty="0"/>
              <a:t>Input and output devices</a:t>
            </a:r>
            <a:endParaRPr lang="en-US" dirty="0"/>
          </a:p>
        </p:txBody>
      </p:sp>
      <p:sp>
        <p:nvSpPr>
          <p:cNvPr id="4" name="TextBox 3">
            <a:extLst>
              <a:ext uri="{FF2B5EF4-FFF2-40B4-BE49-F238E27FC236}">
                <a16:creationId xmlns:a16="http://schemas.microsoft.com/office/drawing/2014/main" id="{41025A34-4DC9-371F-FC29-42FF2DD969D5}"/>
              </a:ext>
            </a:extLst>
          </p:cNvPr>
          <p:cNvSpPr txBox="1"/>
          <p:nvPr/>
        </p:nvSpPr>
        <p:spPr>
          <a:xfrm>
            <a:off x="4051495" y="2053883"/>
            <a:ext cx="811441" cy="307777"/>
          </a:xfrm>
          <a:prstGeom prst="rect">
            <a:avLst/>
          </a:prstGeom>
          <a:noFill/>
        </p:spPr>
        <p:txBody>
          <a:bodyPr wrap="none" rtlCol="0">
            <a:spAutoFit/>
          </a:bodyPr>
          <a:lstStyle/>
          <a:p>
            <a:r>
              <a:rPr lang="en-US" dirty="0">
                <a:solidFill>
                  <a:schemeClr val="accent5">
                    <a:lumMod val="75000"/>
                  </a:schemeClr>
                </a:solidFill>
              </a:rPr>
              <a:t>tangible</a:t>
            </a:r>
          </a:p>
        </p:txBody>
      </p:sp>
    </p:spTree>
    <p:extLst>
      <p:ext uri="{BB962C8B-B14F-4D97-AF65-F5344CB8AC3E}">
        <p14:creationId xmlns:p14="http://schemas.microsoft.com/office/powerpoint/2010/main" val="1111460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D2475-EBF9-4E8F-B984-46862B8A109E}"/>
              </a:ext>
            </a:extLst>
          </p:cNvPr>
          <p:cNvSpPr>
            <a:spLocks noGrp="1"/>
          </p:cNvSpPr>
          <p:nvPr>
            <p:ph type="title"/>
          </p:nvPr>
        </p:nvSpPr>
        <p:spPr/>
        <p:txBody>
          <a:bodyPr/>
          <a:lstStyle/>
          <a:p>
            <a:r>
              <a:rPr lang="en-US" altLang="en-US" dirty="0"/>
              <a:t>The C</a:t>
            </a:r>
            <a:r>
              <a:rPr lang="en-US" altLang="en-US" sz="100" dirty="0"/>
              <a:t> </a:t>
            </a:r>
            <a:r>
              <a:rPr lang="en-US" altLang="en-US" dirty="0"/>
              <a:t>P</a:t>
            </a:r>
            <a:r>
              <a:rPr lang="en-US" altLang="en-US" sz="100" dirty="0"/>
              <a:t> </a:t>
            </a:r>
            <a:r>
              <a:rPr lang="en-US" altLang="en-US" dirty="0"/>
              <a:t>U</a:t>
            </a:r>
            <a:endParaRPr lang="en-US" dirty="0"/>
          </a:p>
        </p:txBody>
      </p:sp>
      <p:sp>
        <p:nvSpPr>
          <p:cNvPr id="3" name="Content Placeholder 2">
            <a:extLst>
              <a:ext uri="{FF2B5EF4-FFF2-40B4-BE49-F238E27FC236}">
                <a16:creationId xmlns:a16="http://schemas.microsoft.com/office/drawing/2014/main" id="{12C97827-3688-4AF6-934D-8F57DD0AE12A}"/>
              </a:ext>
            </a:extLst>
          </p:cNvPr>
          <p:cNvSpPr>
            <a:spLocks noGrp="1"/>
          </p:cNvSpPr>
          <p:nvPr>
            <p:ph sz="quarter" idx="13"/>
          </p:nvPr>
        </p:nvSpPr>
        <p:spPr>
          <a:xfrm>
            <a:off x="457200" y="1556327"/>
            <a:ext cx="8229600" cy="2974109"/>
          </a:xfrm>
        </p:spPr>
        <p:txBody>
          <a:bodyPr/>
          <a:lstStyle/>
          <a:p>
            <a:r>
              <a:rPr lang="en-US" altLang="en-US" b="1" dirty="0"/>
              <a:t>Central processing unit (C</a:t>
            </a:r>
            <a:r>
              <a:rPr lang="en-US" altLang="en-US" sz="100" b="1" dirty="0"/>
              <a:t> </a:t>
            </a:r>
            <a:r>
              <a:rPr lang="en-US" altLang="en-US" b="1" dirty="0"/>
              <a:t>P</a:t>
            </a:r>
            <a:r>
              <a:rPr lang="en-US" altLang="en-US" sz="100" b="1" dirty="0"/>
              <a:t> </a:t>
            </a:r>
            <a:r>
              <a:rPr lang="en-US" altLang="en-US" b="1" dirty="0"/>
              <a:t>U): the part of the computer that actually runs programs </a:t>
            </a:r>
          </a:p>
          <a:p>
            <a:pPr lvl="1"/>
            <a:r>
              <a:rPr lang="en-US" altLang="en-US" dirty="0"/>
              <a:t>Most important component</a:t>
            </a:r>
          </a:p>
          <a:p>
            <a:pPr lvl="1"/>
            <a:r>
              <a:rPr lang="en-US" altLang="en-US" dirty="0"/>
              <a:t>Without it, cannot run software</a:t>
            </a:r>
          </a:p>
          <a:p>
            <a:pPr lvl="1"/>
            <a:r>
              <a:rPr lang="en-US" altLang="en-US" dirty="0"/>
              <a:t>Used to be a huge device</a:t>
            </a:r>
          </a:p>
          <a:p>
            <a:r>
              <a:rPr lang="en-US" altLang="en-US" b="1" dirty="0"/>
              <a:t>Microprocessors: C</a:t>
            </a:r>
            <a:r>
              <a:rPr lang="en-US" altLang="en-US" sz="100" b="1" dirty="0"/>
              <a:t> </a:t>
            </a:r>
            <a:r>
              <a:rPr lang="en-US" altLang="en-US" b="1" dirty="0"/>
              <a:t>P</a:t>
            </a:r>
            <a:r>
              <a:rPr lang="en-US" altLang="en-US" sz="100" b="1" dirty="0"/>
              <a:t> </a:t>
            </a:r>
            <a:r>
              <a:rPr lang="en-US" altLang="en-US" b="1" dirty="0"/>
              <a:t>U</a:t>
            </a:r>
            <a:r>
              <a:rPr lang="en-US" altLang="en-US" sz="100" b="1" dirty="0"/>
              <a:t> </a:t>
            </a:r>
            <a:r>
              <a:rPr lang="en-US" altLang="en-US" b="1" dirty="0"/>
              <a:t>s located on small chips</a:t>
            </a:r>
            <a:endParaRPr lang="en-US" b="1" dirty="0"/>
          </a:p>
        </p:txBody>
      </p:sp>
      <p:sp>
        <p:nvSpPr>
          <p:cNvPr id="4" name="TextBox 3">
            <a:extLst>
              <a:ext uri="{FF2B5EF4-FFF2-40B4-BE49-F238E27FC236}">
                <a16:creationId xmlns:a16="http://schemas.microsoft.com/office/drawing/2014/main" id="{C08D9B97-FDEF-B2D6-9D91-C2FF94191A5A}"/>
              </a:ext>
            </a:extLst>
          </p:cNvPr>
          <p:cNvSpPr txBox="1"/>
          <p:nvPr/>
        </p:nvSpPr>
        <p:spPr>
          <a:xfrm>
            <a:off x="6414867" y="2039815"/>
            <a:ext cx="950901" cy="307777"/>
          </a:xfrm>
          <a:prstGeom prst="rect">
            <a:avLst/>
          </a:prstGeom>
          <a:noFill/>
        </p:spPr>
        <p:txBody>
          <a:bodyPr wrap="none" rtlCol="0">
            <a:spAutoFit/>
          </a:bodyPr>
          <a:lstStyle/>
          <a:p>
            <a:r>
              <a:rPr lang="en-US" dirty="0">
                <a:solidFill>
                  <a:schemeClr val="accent5">
                    <a:lumMod val="75000"/>
                  </a:schemeClr>
                </a:solidFill>
              </a:rPr>
              <a:t>execution</a:t>
            </a:r>
          </a:p>
        </p:txBody>
      </p:sp>
    </p:spTree>
    <p:extLst>
      <p:ext uri="{BB962C8B-B14F-4D97-AF65-F5344CB8AC3E}">
        <p14:creationId xmlns:p14="http://schemas.microsoft.com/office/powerpoint/2010/main" val="304329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D2475-EBF9-4E8F-B984-46862B8A109E}"/>
              </a:ext>
            </a:extLst>
          </p:cNvPr>
          <p:cNvSpPr>
            <a:spLocks noGrp="1"/>
          </p:cNvSpPr>
          <p:nvPr>
            <p:ph type="title"/>
          </p:nvPr>
        </p:nvSpPr>
        <p:spPr/>
        <p:txBody>
          <a:bodyPr/>
          <a:lstStyle/>
          <a:p>
            <a:r>
              <a:rPr lang="en-US" altLang="en-US"/>
              <a:t>Main Memory</a:t>
            </a:r>
            <a:endParaRPr lang="en-US"/>
          </a:p>
        </p:txBody>
      </p:sp>
      <p:sp>
        <p:nvSpPr>
          <p:cNvPr id="3" name="Content Placeholder 2">
            <a:extLst>
              <a:ext uri="{FF2B5EF4-FFF2-40B4-BE49-F238E27FC236}">
                <a16:creationId xmlns:a16="http://schemas.microsoft.com/office/drawing/2014/main" id="{12C97827-3688-4AF6-934D-8F57DD0AE12A}"/>
              </a:ext>
            </a:extLst>
          </p:cNvPr>
          <p:cNvSpPr>
            <a:spLocks noGrp="1"/>
          </p:cNvSpPr>
          <p:nvPr>
            <p:ph sz="quarter" idx="13"/>
          </p:nvPr>
        </p:nvSpPr>
        <p:spPr>
          <a:xfrm>
            <a:off x="457200" y="1556327"/>
            <a:ext cx="8229600" cy="3528000"/>
          </a:xfrm>
        </p:spPr>
        <p:txBody>
          <a:bodyPr/>
          <a:lstStyle/>
          <a:p>
            <a:r>
              <a:rPr lang="en-US" altLang="en-US" b="1" dirty="0"/>
              <a:t>Memory: RAM and ROM (Read-Only Memory)</a:t>
            </a:r>
          </a:p>
          <a:p>
            <a:r>
              <a:rPr lang="en-US" altLang="en-US" b="1" dirty="0"/>
              <a:t>Main memory: where computer stores a </a:t>
            </a:r>
            <a:r>
              <a:rPr lang="en-US" altLang="en-US" b="1" u="sng" dirty="0"/>
              <a:t>program</a:t>
            </a:r>
            <a:r>
              <a:rPr lang="en-US" altLang="en-US" b="1" dirty="0"/>
              <a:t> while program is </a:t>
            </a:r>
            <a:r>
              <a:rPr lang="en-US" altLang="en-US" b="1" dirty="0">
                <a:solidFill>
                  <a:schemeClr val="accent3">
                    <a:lumMod val="75000"/>
                  </a:schemeClr>
                </a:solidFill>
              </a:rPr>
              <a:t>running</a:t>
            </a:r>
            <a:r>
              <a:rPr lang="en-US" altLang="en-US" b="1" dirty="0"/>
              <a:t>, and </a:t>
            </a:r>
            <a:r>
              <a:rPr lang="en-US" altLang="en-US" b="1" u="sng" dirty="0"/>
              <a:t>data</a:t>
            </a:r>
            <a:r>
              <a:rPr lang="en-US" altLang="en-US" b="1" dirty="0"/>
              <a:t> used by the program</a:t>
            </a:r>
          </a:p>
          <a:p>
            <a:r>
              <a:rPr lang="en-US" altLang="en-US" b="1" dirty="0"/>
              <a:t>Known as Random Access Memory or R</a:t>
            </a:r>
            <a:r>
              <a:rPr lang="en-US" altLang="en-US" sz="100" b="1" dirty="0"/>
              <a:t> </a:t>
            </a:r>
            <a:r>
              <a:rPr lang="en-US" altLang="en-US" b="1" dirty="0"/>
              <a:t>A</a:t>
            </a:r>
            <a:r>
              <a:rPr lang="en-US" altLang="en-US" sz="100" b="1" dirty="0"/>
              <a:t> </a:t>
            </a:r>
            <a:r>
              <a:rPr lang="en-US" altLang="en-US" b="1" dirty="0"/>
              <a:t>M</a:t>
            </a:r>
          </a:p>
          <a:p>
            <a:pPr lvl="1"/>
            <a:r>
              <a:rPr lang="en-US" altLang="en-US" dirty="0"/>
              <a:t>C</a:t>
            </a:r>
            <a:r>
              <a:rPr lang="en-US" altLang="en-US" sz="100" dirty="0"/>
              <a:t> </a:t>
            </a:r>
            <a:r>
              <a:rPr lang="en-US" altLang="en-US" dirty="0"/>
              <a:t>P</a:t>
            </a:r>
            <a:r>
              <a:rPr lang="en-US" altLang="en-US" sz="100" dirty="0"/>
              <a:t> </a:t>
            </a:r>
            <a:r>
              <a:rPr lang="en-US" altLang="en-US" dirty="0"/>
              <a:t>U is able to </a:t>
            </a:r>
            <a:r>
              <a:rPr lang="en-US" altLang="en-US" u="sng" dirty="0"/>
              <a:t>quickly</a:t>
            </a:r>
            <a:r>
              <a:rPr lang="en-US" altLang="en-US" dirty="0"/>
              <a:t> access data in R</a:t>
            </a:r>
            <a:r>
              <a:rPr lang="en-US" altLang="en-US" sz="100" dirty="0"/>
              <a:t> </a:t>
            </a:r>
            <a:r>
              <a:rPr lang="en-US" altLang="en-US" dirty="0"/>
              <a:t>A</a:t>
            </a:r>
            <a:r>
              <a:rPr lang="en-US" altLang="en-US" sz="100" dirty="0"/>
              <a:t> </a:t>
            </a:r>
            <a:r>
              <a:rPr lang="en-US" altLang="en-US" dirty="0"/>
              <a:t>M</a:t>
            </a:r>
          </a:p>
          <a:p>
            <a:pPr lvl="1"/>
            <a:r>
              <a:rPr lang="en-US" altLang="en-US" u="sng" dirty="0"/>
              <a:t>Volatile</a:t>
            </a:r>
            <a:r>
              <a:rPr lang="en-US" altLang="en-US" dirty="0"/>
              <a:t> memory used for temporary storage while program is running</a:t>
            </a:r>
          </a:p>
          <a:p>
            <a:pPr lvl="1"/>
            <a:r>
              <a:rPr lang="en-US" altLang="en-US" dirty="0"/>
              <a:t>Contents are erased when computer is off</a:t>
            </a:r>
            <a:endParaRPr lang="en-US" dirty="0"/>
          </a:p>
        </p:txBody>
      </p:sp>
      <p:sp>
        <p:nvSpPr>
          <p:cNvPr id="4" name="TextBox 3">
            <a:extLst>
              <a:ext uri="{FF2B5EF4-FFF2-40B4-BE49-F238E27FC236}">
                <a16:creationId xmlns:a16="http://schemas.microsoft.com/office/drawing/2014/main" id="{00A2A499-419E-DBCA-0B54-BCBAE63CB7A1}"/>
              </a:ext>
            </a:extLst>
          </p:cNvPr>
          <p:cNvSpPr txBox="1"/>
          <p:nvPr/>
        </p:nvSpPr>
        <p:spPr>
          <a:xfrm>
            <a:off x="6421662" y="2009983"/>
            <a:ext cx="2662908" cy="307777"/>
          </a:xfrm>
          <a:prstGeom prst="rect">
            <a:avLst/>
          </a:prstGeom>
          <a:noFill/>
        </p:spPr>
        <p:txBody>
          <a:bodyPr wrap="none" rtlCol="0">
            <a:spAutoFit/>
          </a:bodyPr>
          <a:lstStyle/>
          <a:p>
            <a:r>
              <a:rPr lang="en-US" dirty="0">
                <a:solidFill>
                  <a:schemeClr val="accent5">
                    <a:lumMod val="75000"/>
                  </a:schemeClr>
                </a:solidFill>
              </a:rPr>
              <a:t>Executable, binary, instructions</a:t>
            </a:r>
          </a:p>
        </p:txBody>
      </p:sp>
      <p:sp>
        <p:nvSpPr>
          <p:cNvPr id="5" name="TextBox 4">
            <a:extLst>
              <a:ext uri="{FF2B5EF4-FFF2-40B4-BE49-F238E27FC236}">
                <a16:creationId xmlns:a16="http://schemas.microsoft.com/office/drawing/2014/main" id="{862C997A-C969-4929-F6E2-76262BE3E215}"/>
              </a:ext>
            </a:extLst>
          </p:cNvPr>
          <p:cNvSpPr txBox="1"/>
          <p:nvPr/>
        </p:nvSpPr>
        <p:spPr>
          <a:xfrm>
            <a:off x="4679801" y="2950995"/>
            <a:ext cx="3491947" cy="738664"/>
          </a:xfrm>
          <a:prstGeom prst="rect">
            <a:avLst/>
          </a:prstGeom>
          <a:noFill/>
        </p:spPr>
        <p:txBody>
          <a:bodyPr wrap="square" rtlCol="0">
            <a:spAutoFit/>
          </a:bodyPr>
          <a:lstStyle/>
          <a:p>
            <a:r>
              <a:rPr lang="en-US" dirty="0">
                <a:solidFill>
                  <a:schemeClr val="accent5">
                    <a:lumMod val="75000"/>
                  </a:schemeClr>
                </a:solidFill>
              </a:rPr>
              <a:t>Declared in the executable, including global data, instance data, or private data</a:t>
            </a:r>
          </a:p>
          <a:p>
            <a:endParaRPr lang="en-US" dirty="0">
              <a:solidFill>
                <a:schemeClr val="accent5">
                  <a:lumMod val="75000"/>
                </a:schemeClr>
              </a:solidFill>
            </a:endParaRPr>
          </a:p>
        </p:txBody>
      </p:sp>
      <p:sp>
        <p:nvSpPr>
          <p:cNvPr id="6" name="TextBox 5">
            <a:extLst>
              <a:ext uri="{FF2B5EF4-FFF2-40B4-BE49-F238E27FC236}">
                <a16:creationId xmlns:a16="http://schemas.microsoft.com/office/drawing/2014/main" id="{10EE17DB-04E5-A0E3-C454-FE08BC6F0449}"/>
              </a:ext>
            </a:extLst>
          </p:cNvPr>
          <p:cNvSpPr txBox="1"/>
          <p:nvPr/>
        </p:nvSpPr>
        <p:spPr>
          <a:xfrm>
            <a:off x="5524565" y="1312650"/>
            <a:ext cx="950901" cy="307777"/>
          </a:xfrm>
          <a:prstGeom prst="rect">
            <a:avLst/>
          </a:prstGeom>
          <a:noFill/>
        </p:spPr>
        <p:txBody>
          <a:bodyPr wrap="none" rtlCol="0">
            <a:spAutoFit/>
          </a:bodyPr>
          <a:lstStyle/>
          <a:p>
            <a:r>
              <a:rPr lang="en-US" dirty="0">
                <a:solidFill>
                  <a:schemeClr val="accent5">
                    <a:lumMod val="75000"/>
                  </a:schemeClr>
                </a:solidFill>
              </a:rPr>
              <a:t>Bootstrap</a:t>
            </a:r>
          </a:p>
        </p:txBody>
      </p:sp>
      <p:sp>
        <p:nvSpPr>
          <p:cNvPr id="7" name="TextBox 6">
            <a:extLst>
              <a:ext uri="{FF2B5EF4-FFF2-40B4-BE49-F238E27FC236}">
                <a16:creationId xmlns:a16="http://schemas.microsoft.com/office/drawing/2014/main" id="{0471C8EF-CBE4-B9E7-186F-AA257ADABE4B}"/>
              </a:ext>
            </a:extLst>
          </p:cNvPr>
          <p:cNvSpPr txBox="1"/>
          <p:nvPr/>
        </p:nvSpPr>
        <p:spPr>
          <a:xfrm>
            <a:off x="7199499" y="3586774"/>
            <a:ext cx="1885071" cy="1600438"/>
          </a:xfrm>
          <a:prstGeom prst="rect">
            <a:avLst/>
          </a:prstGeom>
          <a:noFill/>
        </p:spPr>
        <p:txBody>
          <a:bodyPr wrap="square" rtlCol="0">
            <a:spAutoFit/>
          </a:bodyPr>
          <a:lstStyle/>
          <a:p>
            <a:r>
              <a:rPr lang="en-US" dirty="0">
                <a:solidFill>
                  <a:schemeClr val="accent5">
                    <a:lumMod val="75000"/>
                  </a:schemeClr>
                </a:solidFill>
              </a:rPr>
              <a:t>CPU and Memory are physically located very close to each other, connected thru extremely fast data bus.</a:t>
            </a:r>
          </a:p>
          <a:p>
            <a:endParaRPr lang="en-US" dirty="0"/>
          </a:p>
        </p:txBody>
      </p:sp>
      <p:sp>
        <p:nvSpPr>
          <p:cNvPr id="8" name="TextBox 7">
            <a:extLst>
              <a:ext uri="{FF2B5EF4-FFF2-40B4-BE49-F238E27FC236}">
                <a16:creationId xmlns:a16="http://schemas.microsoft.com/office/drawing/2014/main" id="{4B9A5AE9-A599-8E35-F8C4-F3FE476A5A59}"/>
              </a:ext>
            </a:extLst>
          </p:cNvPr>
          <p:cNvSpPr txBox="1"/>
          <p:nvPr/>
        </p:nvSpPr>
        <p:spPr>
          <a:xfrm>
            <a:off x="2193223" y="2950995"/>
            <a:ext cx="2486578" cy="307777"/>
          </a:xfrm>
          <a:prstGeom prst="rect">
            <a:avLst/>
          </a:prstGeom>
          <a:noFill/>
        </p:spPr>
        <p:txBody>
          <a:bodyPr wrap="none" rtlCol="0">
            <a:spAutoFit/>
          </a:bodyPr>
          <a:lstStyle/>
          <a:p>
            <a:r>
              <a:rPr lang="en-US" dirty="0">
                <a:solidFill>
                  <a:schemeClr val="accent3">
                    <a:lumMod val="75000"/>
                  </a:schemeClr>
                </a:solidFill>
              </a:rPr>
              <a:t>Otherwise, static in disk/SSD</a:t>
            </a:r>
          </a:p>
        </p:txBody>
      </p:sp>
    </p:spTree>
    <p:extLst>
      <p:ext uri="{BB962C8B-B14F-4D97-AF65-F5344CB8AC3E}">
        <p14:creationId xmlns:p14="http://schemas.microsoft.com/office/powerpoint/2010/main" val="193736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E1374-E2F1-439E-B14B-CA46468786F7}"/>
              </a:ext>
            </a:extLst>
          </p:cNvPr>
          <p:cNvSpPr>
            <a:spLocks noGrp="1"/>
          </p:cNvSpPr>
          <p:nvPr>
            <p:ph type="title"/>
          </p:nvPr>
        </p:nvSpPr>
        <p:spPr/>
        <p:txBody>
          <a:bodyPr/>
          <a:lstStyle/>
          <a:p>
            <a:r>
              <a:rPr lang="en-US" altLang="en-US"/>
              <a:t>Secondary Storage Devices</a:t>
            </a:r>
            <a:endParaRPr lang="en-US"/>
          </a:p>
        </p:txBody>
      </p:sp>
      <p:sp>
        <p:nvSpPr>
          <p:cNvPr id="3" name="Content Placeholder 2">
            <a:extLst>
              <a:ext uri="{FF2B5EF4-FFF2-40B4-BE49-F238E27FC236}">
                <a16:creationId xmlns:a16="http://schemas.microsoft.com/office/drawing/2014/main" id="{93B32F56-3511-4FF6-A270-13234A681DC9}"/>
              </a:ext>
            </a:extLst>
          </p:cNvPr>
          <p:cNvSpPr>
            <a:spLocks noGrp="1"/>
          </p:cNvSpPr>
          <p:nvPr>
            <p:ph sz="quarter" idx="13"/>
          </p:nvPr>
        </p:nvSpPr>
        <p:spPr>
          <a:xfrm>
            <a:off x="457200" y="1556327"/>
            <a:ext cx="8081158" cy="4356000"/>
          </a:xfrm>
        </p:spPr>
        <p:txBody>
          <a:bodyPr/>
          <a:lstStyle/>
          <a:p>
            <a:pPr eaLnBrk="1" hangingPunct="1">
              <a:defRPr/>
            </a:pPr>
            <a:r>
              <a:rPr lang="en-US" altLang="en-US" b="1" dirty="0"/>
              <a:t>Secondary storage: can hold data for long periods of time </a:t>
            </a:r>
            <a:r>
              <a:rPr lang="en-US" altLang="en-US" sz="1400" b="1" dirty="0">
                <a:solidFill>
                  <a:schemeClr val="accent5">
                    <a:lumMod val="75000"/>
                  </a:schemeClr>
                </a:solidFill>
              </a:rPr>
              <a:t>involatile, slower than accessing memory</a:t>
            </a:r>
            <a:endParaRPr lang="en-US" altLang="en-US" b="1" dirty="0"/>
          </a:p>
          <a:p>
            <a:pPr lvl="1" eaLnBrk="1" hangingPunct="1">
              <a:defRPr/>
            </a:pPr>
            <a:r>
              <a:rPr lang="en-US" altLang="en-US" dirty="0"/>
              <a:t>Programs normally stored here and loaded to main memory when running</a:t>
            </a:r>
          </a:p>
          <a:p>
            <a:pPr eaLnBrk="1" hangingPunct="1">
              <a:defRPr/>
            </a:pPr>
            <a:r>
              <a:rPr lang="en-US" altLang="en-US" b="1" dirty="0"/>
              <a:t>Types of secondary memory</a:t>
            </a:r>
          </a:p>
          <a:p>
            <a:pPr lvl="1" eaLnBrk="1" hangingPunct="1">
              <a:defRPr/>
            </a:pPr>
            <a:r>
              <a:rPr lang="en-US" altLang="en-US" dirty="0"/>
              <a:t>Disk drive: magnetically encodes data onto a spinning circular disk</a:t>
            </a:r>
          </a:p>
          <a:p>
            <a:pPr lvl="1" eaLnBrk="1" hangingPunct="1">
              <a:defRPr/>
            </a:pPr>
            <a:r>
              <a:rPr lang="en-US" altLang="en-US" dirty="0"/>
              <a:t>Solid state drive: faster than disk drive, no moving parts, stores data in solid state memory</a:t>
            </a:r>
          </a:p>
          <a:p>
            <a:pPr lvl="1" eaLnBrk="1" hangingPunct="1">
              <a:defRPr/>
            </a:pPr>
            <a:r>
              <a:rPr lang="en-US" altLang="en-US" dirty="0"/>
              <a:t>Flash memory: portable, no physical disk</a:t>
            </a:r>
            <a:endParaRPr lang="en-US" dirty="0"/>
          </a:p>
        </p:txBody>
      </p:sp>
      <p:sp>
        <p:nvSpPr>
          <p:cNvPr id="4" name="TextBox 3">
            <a:extLst>
              <a:ext uri="{FF2B5EF4-FFF2-40B4-BE49-F238E27FC236}">
                <a16:creationId xmlns:a16="http://schemas.microsoft.com/office/drawing/2014/main" id="{4C1170E4-1003-32CA-A980-72169DE8C7F6}"/>
              </a:ext>
            </a:extLst>
          </p:cNvPr>
          <p:cNvSpPr txBox="1"/>
          <p:nvPr/>
        </p:nvSpPr>
        <p:spPr>
          <a:xfrm>
            <a:off x="4270475" y="2328323"/>
            <a:ext cx="603050" cy="307777"/>
          </a:xfrm>
          <a:prstGeom prst="rect">
            <a:avLst/>
          </a:prstGeom>
          <a:noFill/>
        </p:spPr>
        <p:txBody>
          <a:bodyPr wrap="none" rtlCol="0">
            <a:spAutoFit/>
          </a:bodyPr>
          <a:lstStyle/>
          <a:p>
            <a:r>
              <a:rPr lang="en-US" dirty="0">
                <a:solidFill>
                  <a:schemeClr val="accent5">
                    <a:lumMod val="50000"/>
                  </a:schemeClr>
                </a:solidFill>
              </a:rPr>
              <a:t>static</a:t>
            </a:r>
          </a:p>
        </p:txBody>
      </p:sp>
      <p:sp>
        <p:nvSpPr>
          <p:cNvPr id="5" name="TextBox 4">
            <a:extLst>
              <a:ext uri="{FF2B5EF4-FFF2-40B4-BE49-F238E27FC236}">
                <a16:creationId xmlns:a16="http://schemas.microsoft.com/office/drawing/2014/main" id="{AA019505-FA73-AF92-9C4E-4E804644772C}"/>
              </a:ext>
            </a:extLst>
          </p:cNvPr>
          <p:cNvSpPr txBox="1"/>
          <p:nvPr/>
        </p:nvSpPr>
        <p:spPr>
          <a:xfrm>
            <a:off x="3179298" y="3121223"/>
            <a:ext cx="851515" cy="307777"/>
          </a:xfrm>
          <a:prstGeom prst="rect">
            <a:avLst/>
          </a:prstGeom>
          <a:noFill/>
        </p:spPr>
        <p:txBody>
          <a:bodyPr wrap="none" rtlCol="0">
            <a:spAutoFit/>
          </a:bodyPr>
          <a:lstStyle/>
          <a:p>
            <a:r>
              <a:rPr lang="en-US" dirty="0">
                <a:solidFill>
                  <a:schemeClr val="accent5">
                    <a:lumMod val="50000"/>
                  </a:schemeClr>
                </a:solidFill>
              </a:rPr>
              <a:t>dynamic</a:t>
            </a:r>
          </a:p>
        </p:txBody>
      </p:sp>
    </p:spTree>
    <p:extLst>
      <p:ext uri="{BB962C8B-B14F-4D97-AF65-F5344CB8AC3E}">
        <p14:creationId xmlns:p14="http://schemas.microsoft.com/office/powerpoint/2010/main" val="755507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C608A-BEEF-4944-8359-032C441ADD58}"/>
              </a:ext>
            </a:extLst>
          </p:cNvPr>
          <p:cNvSpPr>
            <a:spLocks noGrp="1"/>
          </p:cNvSpPr>
          <p:nvPr>
            <p:ph type="title"/>
          </p:nvPr>
        </p:nvSpPr>
        <p:spPr/>
        <p:txBody>
          <a:bodyPr/>
          <a:lstStyle/>
          <a:p>
            <a:r>
              <a:rPr lang="en-US" altLang="en-US" dirty="0"/>
              <a:t>Input Devices (I/</a:t>
            </a:r>
            <a:r>
              <a:rPr lang="en-US" altLang="en-US" b="0" dirty="0"/>
              <a:t>O</a:t>
            </a:r>
            <a:r>
              <a:rPr lang="en-US" altLang="en-US" dirty="0"/>
              <a:t>)</a:t>
            </a:r>
            <a:endParaRPr lang="en-US" dirty="0"/>
          </a:p>
        </p:txBody>
      </p:sp>
      <p:sp>
        <p:nvSpPr>
          <p:cNvPr id="3" name="Content Placeholder 2">
            <a:extLst>
              <a:ext uri="{FF2B5EF4-FFF2-40B4-BE49-F238E27FC236}">
                <a16:creationId xmlns:a16="http://schemas.microsoft.com/office/drawing/2014/main" id="{74194EB5-9E10-45DD-9C9C-261F1B8B278C}"/>
              </a:ext>
            </a:extLst>
          </p:cNvPr>
          <p:cNvSpPr>
            <a:spLocks noGrp="1"/>
          </p:cNvSpPr>
          <p:nvPr>
            <p:ph sz="quarter" idx="13"/>
          </p:nvPr>
        </p:nvSpPr>
        <p:spPr>
          <a:xfrm>
            <a:off x="457200" y="1556327"/>
            <a:ext cx="8229600" cy="3195782"/>
          </a:xfrm>
        </p:spPr>
        <p:txBody>
          <a:bodyPr/>
          <a:lstStyle/>
          <a:p>
            <a:r>
              <a:rPr lang="en-US" altLang="en-US" b="1" dirty="0"/>
              <a:t>Input: </a:t>
            </a:r>
            <a:r>
              <a:rPr lang="en-US" altLang="en-US" b="1" u="sng" dirty="0"/>
              <a:t>data</a:t>
            </a:r>
            <a:r>
              <a:rPr lang="en-US" altLang="en-US" b="1" dirty="0"/>
              <a:t> the computer collects from people and other devices </a:t>
            </a:r>
          </a:p>
          <a:p>
            <a:r>
              <a:rPr lang="en-US" altLang="en-US" b="1" dirty="0"/>
              <a:t>Input device: component that collects the data</a:t>
            </a:r>
          </a:p>
          <a:p>
            <a:pPr lvl="1"/>
            <a:r>
              <a:rPr lang="en-US" altLang="en-US" dirty="0"/>
              <a:t>Examples: keyboard, mouse, touchscreen, scanner, camera</a:t>
            </a:r>
          </a:p>
          <a:p>
            <a:pPr lvl="1"/>
            <a:r>
              <a:rPr lang="en-US" altLang="en-US" dirty="0"/>
              <a:t>Disk drives can be considered input devices because they feed programs into the main memory</a:t>
            </a:r>
            <a:endParaRPr lang="en-US" dirty="0"/>
          </a:p>
        </p:txBody>
      </p:sp>
      <p:sp>
        <p:nvSpPr>
          <p:cNvPr id="4" name="TextBox 3">
            <a:extLst>
              <a:ext uri="{FF2B5EF4-FFF2-40B4-BE49-F238E27FC236}">
                <a16:creationId xmlns:a16="http://schemas.microsoft.com/office/drawing/2014/main" id="{A9818D63-7F2A-7903-7863-C1F45DD4CEB3}"/>
              </a:ext>
            </a:extLst>
          </p:cNvPr>
          <p:cNvSpPr txBox="1"/>
          <p:nvPr/>
        </p:nvSpPr>
        <p:spPr>
          <a:xfrm>
            <a:off x="2729133" y="3411415"/>
            <a:ext cx="1348446" cy="307777"/>
          </a:xfrm>
          <a:prstGeom prst="rect">
            <a:avLst/>
          </a:prstGeom>
          <a:noFill/>
        </p:spPr>
        <p:txBody>
          <a:bodyPr wrap="none" rtlCol="0">
            <a:spAutoFit/>
          </a:bodyPr>
          <a:lstStyle/>
          <a:p>
            <a:r>
              <a:rPr lang="en-US" dirty="0">
                <a:solidFill>
                  <a:schemeClr val="accent5">
                    <a:lumMod val="75000"/>
                  </a:schemeClr>
                </a:solidFill>
              </a:rPr>
              <a:t>Standard input</a:t>
            </a:r>
          </a:p>
        </p:txBody>
      </p:sp>
      <p:sp>
        <p:nvSpPr>
          <p:cNvPr id="5" name="TextBox 4">
            <a:extLst>
              <a:ext uri="{FF2B5EF4-FFF2-40B4-BE49-F238E27FC236}">
                <a16:creationId xmlns:a16="http://schemas.microsoft.com/office/drawing/2014/main" id="{9DC7A8B5-3B53-B51A-69EB-D1B8E3219337}"/>
              </a:ext>
            </a:extLst>
          </p:cNvPr>
          <p:cNvSpPr txBox="1"/>
          <p:nvPr/>
        </p:nvSpPr>
        <p:spPr>
          <a:xfrm>
            <a:off x="1115550" y="4685238"/>
            <a:ext cx="3326552" cy="307777"/>
          </a:xfrm>
          <a:prstGeom prst="rect">
            <a:avLst/>
          </a:prstGeom>
          <a:noFill/>
        </p:spPr>
        <p:txBody>
          <a:bodyPr wrap="none" rtlCol="0">
            <a:spAutoFit/>
          </a:bodyPr>
          <a:lstStyle/>
          <a:p>
            <a:r>
              <a:rPr lang="en-US" dirty="0">
                <a:solidFill>
                  <a:schemeClr val="accent5">
                    <a:lumMod val="75000"/>
                  </a:schemeClr>
                </a:solidFill>
              </a:rPr>
              <a:t>Loaded by “loader”, a component of OS</a:t>
            </a:r>
          </a:p>
        </p:txBody>
      </p:sp>
    </p:spTree>
    <p:extLst>
      <p:ext uri="{BB962C8B-B14F-4D97-AF65-F5344CB8AC3E}">
        <p14:creationId xmlns:p14="http://schemas.microsoft.com/office/powerpoint/2010/main" val="3785847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B7062-7969-467D-9032-AFEF0263F47B}"/>
              </a:ext>
            </a:extLst>
          </p:cNvPr>
          <p:cNvSpPr>
            <a:spLocks noGrp="1"/>
          </p:cNvSpPr>
          <p:nvPr>
            <p:ph type="title"/>
          </p:nvPr>
        </p:nvSpPr>
        <p:spPr/>
        <p:txBody>
          <a:bodyPr/>
          <a:lstStyle/>
          <a:p>
            <a:r>
              <a:rPr lang="en-US" altLang="en-US" dirty="0"/>
              <a:t>Output Devices (</a:t>
            </a:r>
            <a:r>
              <a:rPr lang="en-US" altLang="en-US" b="0" dirty="0"/>
              <a:t>I</a:t>
            </a:r>
            <a:r>
              <a:rPr lang="en-US" altLang="en-US" dirty="0"/>
              <a:t>/O)</a:t>
            </a:r>
            <a:endParaRPr lang="en-US" dirty="0"/>
          </a:p>
        </p:txBody>
      </p:sp>
      <p:sp>
        <p:nvSpPr>
          <p:cNvPr id="3" name="Content Placeholder 2">
            <a:extLst>
              <a:ext uri="{FF2B5EF4-FFF2-40B4-BE49-F238E27FC236}">
                <a16:creationId xmlns:a16="http://schemas.microsoft.com/office/drawing/2014/main" id="{35AF3EB3-3398-4FF9-868E-DE2A3F9378C2}"/>
              </a:ext>
            </a:extLst>
          </p:cNvPr>
          <p:cNvSpPr>
            <a:spLocks noGrp="1"/>
          </p:cNvSpPr>
          <p:nvPr>
            <p:ph sz="quarter" idx="13"/>
          </p:nvPr>
        </p:nvSpPr>
        <p:spPr>
          <a:xfrm>
            <a:off x="457200" y="1556327"/>
            <a:ext cx="8229600" cy="3399131"/>
          </a:xfrm>
        </p:spPr>
        <p:txBody>
          <a:bodyPr/>
          <a:lstStyle/>
          <a:p>
            <a:r>
              <a:rPr lang="en-US" altLang="en-US" b="1" dirty="0"/>
              <a:t>Output: </a:t>
            </a:r>
            <a:r>
              <a:rPr lang="en-US" altLang="en-US" b="1" u="sng" dirty="0"/>
              <a:t>data</a:t>
            </a:r>
            <a:r>
              <a:rPr lang="en-US" altLang="en-US" b="1" dirty="0"/>
              <a:t> produced by the computer for other people or devices</a:t>
            </a:r>
          </a:p>
          <a:p>
            <a:pPr lvl="1"/>
            <a:r>
              <a:rPr lang="en-US" altLang="en-US" dirty="0"/>
              <a:t>Can be text, image, audio, or bit stream</a:t>
            </a:r>
          </a:p>
          <a:p>
            <a:r>
              <a:rPr lang="en-US" altLang="en-US" b="1" dirty="0"/>
              <a:t>Output device: formats and presents output</a:t>
            </a:r>
          </a:p>
          <a:p>
            <a:pPr lvl="1"/>
            <a:r>
              <a:rPr lang="en-US" altLang="en-US" dirty="0"/>
              <a:t>Examples: video display, printer</a:t>
            </a:r>
          </a:p>
          <a:p>
            <a:pPr lvl="1"/>
            <a:r>
              <a:rPr lang="en-US" altLang="en-US" dirty="0"/>
              <a:t>Disk drives and U</a:t>
            </a:r>
            <a:r>
              <a:rPr lang="en-US" altLang="en-US" sz="100" dirty="0"/>
              <a:t> </a:t>
            </a:r>
            <a:r>
              <a:rPr lang="en-US" altLang="en-US" dirty="0"/>
              <a:t>S</a:t>
            </a:r>
            <a:r>
              <a:rPr lang="en-US" altLang="en-US" sz="100" dirty="0"/>
              <a:t> </a:t>
            </a:r>
            <a:r>
              <a:rPr lang="en-US" altLang="en-US" dirty="0"/>
              <a:t>B drives can be considered output devices because data is sent to them to be saved</a:t>
            </a:r>
            <a:endParaRPr lang="en-US" dirty="0"/>
          </a:p>
        </p:txBody>
      </p:sp>
      <p:sp>
        <p:nvSpPr>
          <p:cNvPr id="4" name="TextBox 3">
            <a:extLst>
              <a:ext uri="{FF2B5EF4-FFF2-40B4-BE49-F238E27FC236}">
                <a16:creationId xmlns:a16="http://schemas.microsoft.com/office/drawing/2014/main" id="{F5A859F1-A414-0879-BBB0-D55359F2FC90}"/>
              </a:ext>
            </a:extLst>
          </p:cNvPr>
          <p:cNvSpPr txBox="1"/>
          <p:nvPr/>
        </p:nvSpPr>
        <p:spPr>
          <a:xfrm>
            <a:off x="998806" y="5134708"/>
            <a:ext cx="2880917" cy="307777"/>
          </a:xfrm>
          <a:prstGeom prst="rect">
            <a:avLst/>
          </a:prstGeom>
          <a:noFill/>
        </p:spPr>
        <p:txBody>
          <a:bodyPr wrap="none" rtlCol="0">
            <a:spAutoFit/>
          </a:bodyPr>
          <a:lstStyle/>
          <a:p>
            <a:r>
              <a:rPr lang="en-US" dirty="0">
                <a:solidFill>
                  <a:schemeClr val="accent5">
                    <a:lumMod val="75000"/>
                  </a:schemeClr>
                </a:solidFill>
              </a:rPr>
              <a:t>Disk drive is both input and output</a:t>
            </a:r>
          </a:p>
        </p:txBody>
      </p:sp>
    </p:spTree>
    <p:extLst>
      <p:ext uri="{BB962C8B-B14F-4D97-AF65-F5344CB8AC3E}">
        <p14:creationId xmlns:p14="http://schemas.microsoft.com/office/powerpoint/2010/main" val="2398652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93EA-0D52-4F13-B719-A3A677C7CF2F}"/>
              </a:ext>
            </a:extLst>
          </p:cNvPr>
          <p:cNvSpPr>
            <a:spLocks noGrp="1"/>
          </p:cNvSpPr>
          <p:nvPr>
            <p:ph type="title"/>
          </p:nvPr>
        </p:nvSpPr>
        <p:spPr/>
        <p:txBody>
          <a:bodyPr/>
          <a:lstStyle/>
          <a:p>
            <a:r>
              <a:rPr lang="en-US" altLang="en-US"/>
              <a:t>Software </a:t>
            </a:r>
            <a:r>
              <a:rPr lang="en-US" altLang="en-US" sz="2000" b="0"/>
              <a:t>(1 of 2)</a:t>
            </a:r>
            <a:endParaRPr lang="en-US" sz="2000" b="0"/>
          </a:p>
        </p:txBody>
      </p:sp>
      <p:sp>
        <p:nvSpPr>
          <p:cNvPr id="3" name="Content Placeholder 2">
            <a:extLst>
              <a:ext uri="{FF2B5EF4-FFF2-40B4-BE49-F238E27FC236}">
                <a16:creationId xmlns:a16="http://schemas.microsoft.com/office/drawing/2014/main" id="{D7EB8913-C0A3-4450-A07E-7A3BB0805311}"/>
              </a:ext>
            </a:extLst>
          </p:cNvPr>
          <p:cNvSpPr>
            <a:spLocks noGrp="1"/>
          </p:cNvSpPr>
          <p:nvPr>
            <p:ph sz="quarter" idx="13"/>
          </p:nvPr>
        </p:nvSpPr>
        <p:spPr>
          <a:xfrm>
            <a:off x="457200" y="1556328"/>
            <a:ext cx="8229600" cy="4022838"/>
          </a:xfrm>
        </p:spPr>
        <p:txBody>
          <a:bodyPr/>
          <a:lstStyle/>
          <a:p>
            <a:r>
              <a:rPr lang="en-US" altLang="en-US" b="1" dirty="0"/>
              <a:t>Everything the computer does is controlled by software</a:t>
            </a:r>
          </a:p>
          <a:p>
            <a:pPr lvl="1"/>
            <a:r>
              <a:rPr lang="en-US" altLang="en-US" dirty="0"/>
              <a:t>General categories:</a:t>
            </a:r>
          </a:p>
          <a:p>
            <a:pPr lvl="2"/>
            <a:r>
              <a:rPr lang="en-US" altLang="en-US" dirty="0"/>
              <a:t>Application software </a:t>
            </a:r>
          </a:p>
          <a:p>
            <a:pPr lvl="2"/>
            <a:r>
              <a:rPr lang="en-US" altLang="en-US" dirty="0"/>
              <a:t>System software</a:t>
            </a:r>
          </a:p>
          <a:p>
            <a:r>
              <a:rPr lang="en-US" altLang="en-US" b="1" dirty="0"/>
              <a:t>Application software: programs that make computer useful for everyday tasks</a:t>
            </a:r>
          </a:p>
          <a:p>
            <a:pPr lvl="1"/>
            <a:r>
              <a:rPr lang="en-US" altLang="en-US" dirty="0"/>
              <a:t>Examples: word processing, email, games, and Web browsers</a:t>
            </a:r>
            <a:endParaRPr lang="en-US" dirty="0"/>
          </a:p>
        </p:txBody>
      </p:sp>
      <p:sp>
        <p:nvSpPr>
          <p:cNvPr id="4" name="TextBox 3">
            <a:extLst>
              <a:ext uri="{FF2B5EF4-FFF2-40B4-BE49-F238E27FC236}">
                <a16:creationId xmlns:a16="http://schemas.microsoft.com/office/drawing/2014/main" id="{BDA6EF04-B63A-BF92-B91E-75FD7F0E506C}"/>
              </a:ext>
            </a:extLst>
          </p:cNvPr>
          <p:cNvSpPr txBox="1"/>
          <p:nvPr/>
        </p:nvSpPr>
        <p:spPr>
          <a:xfrm>
            <a:off x="4768947" y="2897945"/>
            <a:ext cx="1071127" cy="307777"/>
          </a:xfrm>
          <a:prstGeom prst="rect">
            <a:avLst/>
          </a:prstGeom>
          <a:noFill/>
        </p:spPr>
        <p:txBody>
          <a:bodyPr wrap="none" rtlCol="0">
            <a:spAutoFit/>
          </a:bodyPr>
          <a:lstStyle/>
          <a:p>
            <a:r>
              <a:rPr lang="en-US" dirty="0">
                <a:solidFill>
                  <a:schemeClr val="accent5">
                    <a:lumMod val="75000"/>
                  </a:schemeClr>
                </a:solidFill>
              </a:rPr>
              <a:t>You initiate</a:t>
            </a:r>
          </a:p>
        </p:txBody>
      </p:sp>
      <p:sp>
        <p:nvSpPr>
          <p:cNvPr id="5" name="TextBox 4">
            <a:extLst>
              <a:ext uri="{FF2B5EF4-FFF2-40B4-BE49-F238E27FC236}">
                <a16:creationId xmlns:a16="http://schemas.microsoft.com/office/drawing/2014/main" id="{CF3C5DA7-C55A-0D6F-BB02-AB173E2EA149}"/>
              </a:ext>
            </a:extLst>
          </p:cNvPr>
          <p:cNvSpPr txBox="1"/>
          <p:nvPr/>
        </p:nvSpPr>
        <p:spPr>
          <a:xfrm>
            <a:off x="4180805" y="3413858"/>
            <a:ext cx="3318537" cy="307777"/>
          </a:xfrm>
          <a:prstGeom prst="rect">
            <a:avLst/>
          </a:prstGeom>
          <a:noFill/>
        </p:spPr>
        <p:txBody>
          <a:bodyPr wrap="none" rtlCol="0">
            <a:spAutoFit/>
          </a:bodyPr>
          <a:lstStyle/>
          <a:p>
            <a:r>
              <a:rPr lang="en-US" dirty="0">
                <a:solidFill>
                  <a:schemeClr val="accent5">
                    <a:lumMod val="75000"/>
                  </a:schemeClr>
                </a:solidFill>
              </a:rPr>
              <a:t>Computer system initiates, to serve you</a:t>
            </a:r>
          </a:p>
        </p:txBody>
      </p:sp>
    </p:spTree>
    <p:extLst>
      <p:ext uri="{BB962C8B-B14F-4D97-AF65-F5344CB8AC3E}">
        <p14:creationId xmlns:p14="http://schemas.microsoft.com/office/powerpoint/2010/main" val="1132969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0312C-3478-4E47-A726-884AF9FBCBDD}"/>
              </a:ext>
            </a:extLst>
          </p:cNvPr>
          <p:cNvSpPr>
            <a:spLocks noGrp="1"/>
          </p:cNvSpPr>
          <p:nvPr>
            <p:ph type="title"/>
          </p:nvPr>
        </p:nvSpPr>
        <p:spPr/>
        <p:txBody>
          <a:bodyPr/>
          <a:lstStyle/>
          <a:p>
            <a:r>
              <a:rPr lang="en-US" altLang="en-US"/>
              <a:t>Software </a:t>
            </a:r>
            <a:r>
              <a:rPr lang="en-US" altLang="en-US" sz="2000" b="0"/>
              <a:t>(2 of 2)</a:t>
            </a:r>
            <a:endParaRPr lang="en-US"/>
          </a:p>
        </p:txBody>
      </p:sp>
      <p:sp>
        <p:nvSpPr>
          <p:cNvPr id="3" name="Content Placeholder 2">
            <a:extLst>
              <a:ext uri="{FF2B5EF4-FFF2-40B4-BE49-F238E27FC236}">
                <a16:creationId xmlns:a16="http://schemas.microsoft.com/office/drawing/2014/main" id="{992BD134-F2C5-444E-8EDA-6A1928092590}"/>
              </a:ext>
            </a:extLst>
          </p:cNvPr>
          <p:cNvSpPr>
            <a:spLocks noGrp="1"/>
          </p:cNvSpPr>
          <p:nvPr>
            <p:ph sz="quarter" idx="13"/>
          </p:nvPr>
        </p:nvSpPr>
        <p:spPr>
          <a:xfrm>
            <a:off x="457200" y="1556327"/>
            <a:ext cx="8686800" cy="3569855"/>
          </a:xfrm>
        </p:spPr>
        <p:txBody>
          <a:bodyPr/>
          <a:lstStyle/>
          <a:p>
            <a:r>
              <a:rPr lang="en-US" altLang="en-US" b="1" dirty="0"/>
              <a:t>System software: programs that control and manage basic operations of a computer</a:t>
            </a:r>
          </a:p>
          <a:p>
            <a:pPr lvl="1"/>
            <a:r>
              <a:rPr lang="en-US" altLang="en-US" dirty="0"/>
              <a:t>Operating system: controls operations of hardware components </a:t>
            </a:r>
            <a:r>
              <a:rPr lang="en-US" altLang="en-US" sz="1400" dirty="0">
                <a:solidFill>
                  <a:schemeClr val="accent5">
                    <a:lumMod val="75000"/>
                  </a:schemeClr>
                </a:solidFill>
              </a:rPr>
              <a:t>windows, Mac, Linux, Ubuntu, Android, iOS</a:t>
            </a:r>
            <a:endParaRPr lang="en-US" altLang="en-US" sz="1400" dirty="0"/>
          </a:p>
          <a:p>
            <a:pPr lvl="1"/>
            <a:r>
              <a:rPr lang="en-US" altLang="en-US" dirty="0"/>
              <a:t>Utility Program: performs specific task to enhance computer operation or safeguard data </a:t>
            </a:r>
            <a:r>
              <a:rPr lang="en-US" altLang="en-US" sz="1400" dirty="0">
                <a:solidFill>
                  <a:schemeClr val="accent5">
                    <a:lumMod val="75000"/>
                  </a:schemeClr>
                </a:solidFill>
              </a:rPr>
              <a:t>virus scanning, file compressing</a:t>
            </a:r>
            <a:endParaRPr lang="en-US" altLang="en-US" dirty="0"/>
          </a:p>
          <a:p>
            <a:pPr lvl="1"/>
            <a:r>
              <a:rPr lang="en-US" altLang="en-US" dirty="0"/>
              <a:t>Software development tools: used to create, modify, and test software programs </a:t>
            </a:r>
            <a:r>
              <a:rPr lang="en-US" altLang="en-US" sz="1400" dirty="0">
                <a:solidFill>
                  <a:schemeClr val="accent5">
                    <a:lumMod val="75000"/>
                  </a:schemeClr>
                </a:solidFill>
              </a:rPr>
              <a:t>assembler, compiler, interpreter</a:t>
            </a:r>
            <a:endParaRPr lang="en-US" dirty="0"/>
          </a:p>
        </p:txBody>
      </p:sp>
    </p:spTree>
    <p:extLst>
      <p:ext uri="{BB962C8B-B14F-4D97-AF65-F5344CB8AC3E}">
        <p14:creationId xmlns:p14="http://schemas.microsoft.com/office/powerpoint/2010/main" val="2144689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C7EA-B4F5-4BC6-9BBE-185FD52DF3DC}"/>
              </a:ext>
            </a:extLst>
          </p:cNvPr>
          <p:cNvSpPr>
            <a:spLocks noGrp="1"/>
          </p:cNvSpPr>
          <p:nvPr>
            <p:ph type="title"/>
          </p:nvPr>
        </p:nvSpPr>
        <p:spPr/>
        <p:txBody>
          <a:bodyPr/>
          <a:lstStyle/>
          <a:p>
            <a:r>
              <a:rPr lang="en-US" altLang="en-US" dirty="0"/>
              <a:t>1-3 How Computers Store Data</a:t>
            </a:r>
            <a:endParaRPr lang="en-US" dirty="0"/>
          </a:p>
        </p:txBody>
      </p:sp>
      <p:sp>
        <p:nvSpPr>
          <p:cNvPr id="3" name="Content Placeholder 2">
            <a:extLst>
              <a:ext uri="{FF2B5EF4-FFF2-40B4-BE49-F238E27FC236}">
                <a16:creationId xmlns:a16="http://schemas.microsoft.com/office/drawing/2014/main" id="{486D8DA5-98A6-4D94-9BCE-B26B72488A47}"/>
              </a:ext>
            </a:extLst>
          </p:cNvPr>
          <p:cNvSpPr>
            <a:spLocks noGrp="1"/>
          </p:cNvSpPr>
          <p:nvPr>
            <p:ph sz="quarter" idx="13"/>
          </p:nvPr>
        </p:nvSpPr>
        <p:spPr>
          <a:xfrm>
            <a:off x="457200" y="1556327"/>
            <a:ext cx="8229600" cy="3888000"/>
          </a:xfrm>
        </p:spPr>
        <p:txBody>
          <a:bodyPr/>
          <a:lstStyle/>
          <a:p>
            <a:r>
              <a:rPr lang="en-US" altLang="en-US" b="1" dirty="0"/>
              <a:t>All data in a computer is stored in sequences of 0s and 1s </a:t>
            </a:r>
            <a:r>
              <a:rPr lang="en-US" altLang="en-US" sz="1400" b="1" dirty="0">
                <a:solidFill>
                  <a:schemeClr val="accent5">
                    <a:lumMod val="75000"/>
                  </a:schemeClr>
                </a:solidFill>
              </a:rPr>
              <a:t>binary</a:t>
            </a:r>
            <a:endParaRPr lang="en-US" altLang="en-US" b="1" dirty="0"/>
          </a:p>
          <a:p>
            <a:r>
              <a:rPr lang="en-US" altLang="en-US" b="1" dirty="0"/>
              <a:t>Byte: just enough memory to store letter or small number </a:t>
            </a:r>
            <a:r>
              <a:rPr lang="en-US" altLang="en-US" sz="1400" b="1" dirty="0">
                <a:solidFill>
                  <a:schemeClr val="accent5">
                    <a:lumMod val="75000"/>
                  </a:schemeClr>
                </a:solidFill>
              </a:rPr>
              <a:t>  1 </a:t>
            </a:r>
            <a:r>
              <a:rPr lang="en-US" altLang="en-US" sz="1400" b="1" dirty="0">
                <a:solidFill>
                  <a:schemeClr val="accent5">
                    <a:lumMod val="75000"/>
                  </a:schemeClr>
                </a:solidFill>
                <a:sym typeface="Wingdings" pitchFamily="2" charset="2"/>
              </a:rPr>
              <a:t></a:t>
            </a:r>
            <a:r>
              <a:rPr lang="en-US" altLang="en-US" sz="1400" b="1" dirty="0">
                <a:solidFill>
                  <a:schemeClr val="accent5">
                    <a:lumMod val="75000"/>
                  </a:schemeClr>
                </a:solidFill>
              </a:rPr>
              <a:t> “00000001”, A </a:t>
            </a:r>
            <a:r>
              <a:rPr lang="en-US" altLang="en-US" sz="1400" b="1" dirty="0">
                <a:solidFill>
                  <a:schemeClr val="accent5">
                    <a:lumMod val="75000"/>
                  </a:schemeClr>
                </a:solidFill>
                <a:sym typeface="Wingdings" pitchFamily="2" charset="2"/>
              </a:rPr>
              <a:t> “01000001”</a:t>
            </a:r>
            <a:endParaRPr lang="en-US" altLang="en-US" b="1" dirty="0"/>
          </a:p>
          <a:p>
            <a:pPr lvl="1"/>
            <a:r>
              <a:rPr lang="en-US" altLang="en-US" dirty="0"/>
              <a:t>Divided into eight bits     </a:t>
            </a:r>
            <a:r>
              <a:rPr lang="en-US" altLang="en-US" sz="1400" dirty="0">
                <a:solidFill>
                  <a:schemeClr val="accent5">
                    <a:lumMod val="75000"/>
                  </a:schemeClr>
                </a:solidFill>
              </a:rPr>
              <a:t>bit 7 </a:t>
            </a:r>
            <a:r>
              <a:rPr lang="en-US" altLang="en-US" sz="1400" dirty="0">
                <a:solidFill>
                  <a:schemeClr val="accent5">
                    <a:lumMod val="75000"/>
                  </a:schemeClr>
                </a:solidFill>
                <a:sym typeface="Wingdings" pitchFamily="2" charset="2"/>
              </a:rPr>
              <a:t> </a:t>
            </a:r>
            <a:r>
              <a:rPr lang="en-US" altLang="en-US" sz="1800" b="1" dirty="0">
                <a:solidFill>
                  <a:schemeClr val="accent5">
                    <a:lumMod val="75000"/>
                  </a:schemeClr>
                </a:solidFill>
                <a:sym typeface="Wingdings" pitchFamily="2" charset="2"/>
              </a:rPr>
              <a:t>0</a:t>
            </a:r>
            <a:r>
              <a:rPr lang="en-US" altLang="en-US" sz="1400" dirty="0">
                <a:solidFill>
                  <a:schemeClr val="accent5">
                    <a:lumMod val="75000"/>
                  </a:schemeClr>
                </a:solidFill>
                <a:sym typeface="Wingdings" pitchFamily="2" charset="2"/>
              </a:rPr>
              <a:t>000 000</a:t>
            </a:r>
            <a:r>
              <a:rPr lang="en-US" altLang="en-US" sz="1800" b="1" dirty="0">
                <a:solidFill>
                  <a:schemeClr val="accent5">
                    <a:lumMod val="75000"/>
                  </a:schemeClr>
                </a:solidFill>
                <a:sym typeface="Wingdings" pitchFamily="2" charset="2"/>
              </a:rPr>
              <a:t>1</a:t>
            </a:r>
            <a:r>
              <a:rPr lang="en-US" altLang="en-US" sz="1400" dirty="0">
                <a:solidFill>
                  <a:schemeClr val="accent5">
                    <a:lumMod val="75000"/>
                  </a:schemeClr>
                </a:solidFill>
                <a:sym typeface="Wingdings" pitchFamily="2" charset="2"/>
              </a:rPr>
              <a:t>  bit 0</a:t>
            </a:r>
            <a:endParaRPr lang="en-US" altLang="en-US" dirty="0"/>
          </a:p>
          <a:p>
            <a:pPr lvl="1"/>
            <a:r>
              <a:rPr lang="en-US" altLang="en-US" b="1" dirty="0"/>
              <a:t>Bit</a:t>
            </a:r>
            <a:r>
              <a:rPr lang="en-US" altLang="en-US" dirty="0"/>
              <a:t>: electrical component that can hold positive or negative charge, like on/off switch</a:t>
            </a:r>
          </a:p>
          <a:p>
            <a:pPr lvl="1"/>
            <a:r>
              <a:rPr lang="en-US" altLang="en-US" dirty="0"/>
              <a:t>The on/off pattern of bits in a byte represents data stored in the byte </a:t>
            </a:r>
            <a:r>
              <a:rPr lang="en-US" altLang="en-US" sz="1400" dirty="0">
                <a:solidFill>
                  <a:schemeClr val="accent5">
                    <a:lumMod val="75000"/>
                  </a:schemeClr>
                </a:solidFill>
              </a:rPr>
              <a:t>billions transistors in our computer system, such as in CPU, memory, disk drive, flip between on and off as reaction to the binary pattern. </a:t>
            </a:r>
            <a:endParaRPr lang="en-US" dirty="0"/>
          </a:p>
        </p:txBody>
      </p:sp>
    </p:spTree>
    <p:extLst>
      <p:ext uri="{BB962C8B-B14F-4D97-AF65-F5344CB8AC3E}">
        <p14:creationId xmlns:p14="http://schemas.microsoft.com/office/powerpoint/2010/main" val="2711963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CDAF-4D08-C3E1-7B80-560D812E64DB}"/>
              </a:ext>
            </a:extLst>
          </p:cNvPr>
          <p:cNvSpPr>
            <a:spLocks noGrp="1"/>
          </p:cNvSpPr>
          <p:nvPr>
            <p:ph type="title"/>
          </p:nvPr>
        </p:nvSpPr>
        <p:spPr/>
        <p:txBody>
          <a:bodyPr/>
          <a:lstStyle/>
          <a:p>
            <a:r>
              <a:rPr lang="en-US" dirty="0"/>
              <a:t>Bit Pattern: number and letter</a:t>
            </a:r>
          </a:p>
        </p:txBody>
      </p:sp>
      <p:pic>
        <p:nvPicPr>
          <p:cNvPr id="4" name="Content Placeholder 3">
            <a:extLst>
              <a:ext uri="{FF2B5EF4-FFF2-40B4-BE49-F238E27FC236}">
                <a16:creationId xmlns:a16="http://schemas.microsoft.com/office/drawing/2014/main" id="{D8A31DAC-D4CD-CF5F-BC66-4AF92450052D}"/>
              </a:ext>
            </a:extLst>
          </p:cNvPr>
          <p:cNvPicPr>
            <a:picLocks noGrp="1" noChangeAspect="1"/>
          </p:cNvPicPr>
          <p:nvPr>
            <p:ph sz="quarter" idx="13"/>
          </p:nvPr>
        </p:nvPicPr>
        <p:blipFill>
          <a:blip r:embed="rId2"/>
          <a:stretch>
            <a:fillRect/>
          </a:stretch>
        </p:blipFill>
        <p:spPr>
          <a:xfrm>
            <a:off x="333754" y="1780116"/>
            <a:ext cx="4470400" cy="2273300"/>
          </a:xfrm>
          <a:prstGeom prst="rect">
            <a:avLst/>
          </a:prstGeom>
        </p:spPr>
      </p:pic>
      <p:pic>
        <p:nvPicPr>
          <p:cNvPr id="5" name="Picture 4">
            <a:extLst>
              <a:ext uri="{FF2B5EF4-FFF2-40B4-BE49-F238E27FC236}">
                <a16:creationId xmlns:a16="http://schemas.microsoft.com/office/drawing/2014/main" id="{22C51921-0692-418C-48F0-D17B4B9A831D}"/>
              </a:ext>
            </a:extLst>
          </p:cNvPr>
          <p:cNvPicPr>
            <a:picLocks noChangeAspect="1"/>
          </p:cNvPicPr>
          <p:nvPr/>
        </p:nvPicPr>
        <p:blipFill>
          <a:blip r:embed="rId3"/>
          <a:stretch>
            <a:fillRect/>
          </a:stretch>
        </p:blipFill>
        <p:spPr>
          <a:xfrm>
            <a:off x="4572000" y="4053416"/>
            <a:ext cx="4546600" cy="2235200"/>
          </a:xfrm>
          <a:prstGeom prst="rect">
            <a:avLst/>
          </a:prstGeom>
        </p:spPr>
      </p:pic>
      <p:sp>
        <p:nvSpPr>
          <p:cNvPr id="6" name="TextBox 5">
            <a:extLst>
              <a:ext uri="{FF2B5EF4-FFF2-40B4-BE49-F238E27FC236}">
                <a16:creationId xmlns:a16="http://schemas.microsoft.com/office/drawing/2014/main" id="{C6F9DECC-C801-1516-9145-53616A722C17}"/>
              </a:ext>
            </a:extLst>
          </p:cNvPr>
          <p:cNvSpPr txBox="1"/>
          <p:nvPr/>
        </p:nvSpPr>
        <p:spPr>
          <a:xfrm>
            <a:off x="662823" y="1472339"/>
            <a:ext cx="3812262" cy="307777"/>
          </a:xfrm>
          <a:prstGeom prst="rect">
            <a:avLst/>
          </a:prstGeom>
          <a:noFill/>
        </p:spPr>
        <p:txBody>
          <a:bodyPr wrap="none" rtlCol="0">
            <a:spAutoFit/>
          </a:bodyPr>
          <a:lstStyle/>
          <a:p>
            <a:r>
              <a:rPr lang="en-US" dirty="0">
                <a:solidFill>
                  <a:schemeClr val="accent5">
                    <a:lumMod val="75000"/>
                  </a:schemeClr>
                </a:solidFill>
              </a:rPr>
              <a:t>0.       1.       0.       0.       1.        1.        0.      1</a:t>
            </a:r>
          </a:p>
        </p:txBody>
      </p:sp>
      <p:sp>
        <p:nvSpPr>
          <p:cNvPr id="8" name="TextBox 7">
            <a:extLst>
              <a:ext uri="{FF2B5EF4-FFF2-40B4-BE49-F238E27FC236}">
                <a16:creationId xmlns:a16="http://schemas.microsoft.com/office/drawing/2014/main" id="{DBE646CC-E25E-02EA-3659-B6008A3B7165}"/>
              </a:ext>
            </a:extLst>
          </p:cNvPr>
          <p:cNvSpPr txBox="1"/>
          <p:nvPr/>
        </p:nvSpPr>
        <p:spPr>
          <a:xfrm>
            <a:off x="4974956" y="3688597"/>
            <a:ext cx="3712876" cy="307777"/>
          </a:xfrm>
          <a:prstGeom prst="rect">
            <a:avLst/>
          </a:prstGeom>
          <a:noFill/>
        </p:spPr>
        <p:txBody>
          <a:bodyPr wrap="none" rtlCol="0">
            <a:spAutoFit/>
          </a:bodyPr>
          <a:lstStyle/>
          <a:p>
            <a:r>
              <a:rPr lang="en-US" dirty="0"/>
              <a:t>0.     1.       0.      0.      0.      0.         0.         1</a:t>
            </a:r>
          </a:p>
        </p:txBody>
      </p:sp>
    </p:spTree>
    <p:extLst>
      <p:ext uri="{BB962C8B-B14F-4D97-AF65-F5344CB8AC3E}">
        <p14:creationId xmlns:p14="http://schemas.microsoft.com/office/powerpoint/2010/main" val="1691053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4CFF-AAF8-4DAB-BC1B-52FF8841071D}"/>
              </a:ext>
            </a:extLst>
          </p:cNvPr>
          <p:cNvSpPr>
            <a:spLocks noGrp="1"/>
          </p:cNvSpPr>
          <p:nvPr>
            <p:ph type="title"/>
          </p:nvPr>
        </p:nvSpPr>
        <p:spPr/>
        <p:txBody>
          <a:bodyPr/>
          <a:lstStyle/>
          <a:p>
            <a:r>
              <a:rPr lang="en-US" altLang="en-US" dirty="0"/>
              <a:t>Storing Numbers</a:t>
            </a:r>
            <a:endParaRPr lang="en-US" dirty="0"/>
          </a:p>
        </p:txBody>
      </p:sp>
      <p:sp>
        <p:nvSpPr>
          <p:cNvPr id="4" name="Content Placeholder 3"/>
          <p:cNvSpPr>
            <a:spLocks noGrp="1"/>
          </p:cNvSpPr>
          <p:nvPr>
            <p:ph sz="quarter" idx="13"/>
          </p:nvPr>
        </p:nvSpPr>
        <p:spPr>
          <a:xfrm>
            <a:off x="457200" y="1552574"/>
            <a:ext cx="8218488" cy="1048121"/>
          </a:xfrm>
        </p:spPr>
        <p:txBody>
          <a:bodyPr/>
          <a:lstStyle/>
          <a:p>
            <a:r>
              <a:rPr lang="en-US" altLang="en-US" b="1" dirty="0"/>
              <a:t>Bit represents two values, 0 and 1</a:t>
            </a:r>
          </a:p>
          <a:p>
            <a:r>
              <a:rPr lang="en-US" altLang="en-US" b="1" dirty="0"/>
              <a:t>Computers use binary numbering system</a:t>
            </a:r>
          </a:p>
        </p:txBody>
      </p:sp>
      <p:sp>
        <p:nvSpPr>
          <p:cNvPr id="5" name="Content Placeholder 4"/>
          <p:cNvSpPr>
            <a:spLocks noGrp="1"/>
          </p:cNvSpPr>
          <p:nvPr>
            <p:ph sz="quarter" idx="14"/>
          </p:nvPr>
        </p:nvSpPr>
        <p:spPr>
          <a:xfrm>
            <a:off x="457200" y="2695699"/>
            <a:ext cx="6228608" cy="403762"/>
          </a:xfrm>
        </p:spPr>
        <p:txBody>
          <a:bodyPr tIns="0"/>
          <a:lstStyle/>
          <a:p>
            <a:pPr lvl="1"/>
            <a:r>
              <a:rPr lang="en-US" altLang="en-US" dirty="0"/>
              <a:t>Position of digit </a:t>
            </a:r>
            <a:r>
              <a:rPr lang="en-US" altLang="en-US" dirty="0">
                <a:latin typeface="Courier New" panose="02070309020205020404" pitchFamily="49" charset="0"/>
                <a:cs typeface="Courier New" panose="02070309020205020404" pitchFamily="49" charset="0"/>
              </a:rPr>
              <a:t>j</a:t>
            </a:r>
            <a:r>
              <a:rPr lang="en-US" altLang="en-US" dirty="0"/>
              <a:t> is assigned the value</a:t>
            </a:r>
            <a:endParaRPr lang="en-US" dirty="0"/>
          </a:p>
        </p:txBody>
      </p:sp>
      <p:graphicFrame>
        <p:nvGraphicFramePr>
          <p:cNvPr id="20" name="Object 19" descr="2 super j minus 1"/>
          <p:cNvGraphicFramePr>
            <a:graphicFrameLocks noChangeAspect="1"/>
          </p:cNvGraphicFramePr>
          <p:nvPr>
            <p:extLst>
              <p:ext uri="{D42A27DB-BD31-4B8C-83A1-F6EECF244321}">
                <p14:modId xmlns:p14="http://schemas.microsoft.com/office/powerpoint/2010/main" val="2687900962"/>
              </p:ext>
            </p:extLst>
          </p:nvPr>
        </p:nvGraphicFramePr>
        <p:xfrm>
          <a:off x="6735205" y="2655003"/>
          <a:ext cx="494974" cy="371231"/>
        </p:xfrm>
        <a:graphic>
          <a:graphicData uri="http://schemas.openxmlformats.org/presentationml/2006/ole">
            <mc:AlternateContent xmlns:mc="http://schemas.openxmlformats.org/markup-compatibility/2006">
              <mc:Choice xmlns:v="urn:schemas-microsoft-com:vml" Requires="v">
                <p:oleObj name="Equation" r:id="rId3" imgW="253800" imgH="190440" progId="Equation.DSMT4">
                  <p:embed/>
                </p:oleObj>
              </mc:Choice>
              <mc:Fallback>
                <p:oleObj name="Equation" r:id="rId3" imgW="253800" imgH="190440" progId="Equation.DSMT4">
                  <p:embed/>
                  <p:pic>
                    <p:nvPicPr>
                      <p:cNvPr id="20" name="Object 19" descr="2 super j minus 1"/>
                      <p:cNvPicPr/>
                      <p:nvPr/>
                    </p:nvPicPr>
                    <p:blipFill>
                      <a:blip r:embed="rId4"/>
                      <a:stretch>
                        <a:fillRect/>
                      </a:stretch>
                    </p:blipFill>
                    <p:spPr>
                      <a:xfrm>
                        <a:off x="6735205" y="2655003"/>
                        <a:ext cx="494974" cy="371231"/>
                      </a:xfrm>
                      <a:prstGeom prst="rect">
                        <a:avLst/>
                      </a:prstGeom>
                    </p:spPr>
                  </p:pic>
                </p:oleObj>
              </mc:Fallback>
            </mc:AlternateContent>
          </a:graphicData>
        </a:graphic>
      </p:graphicFrame>
      <p:sp>
        <p:nvSpPr>
          <p:cNvPr id="6" name="Content Placeholder 5"/>
          <p:cNvSpPr>
            <a:spLocks noGrp="1"/>
          </p:cNvSpPr>
          <p:nvPr>
            <p:ph sz="quarter" idx="15"/>
          </p:nvPr>
        </p:nvSpPr>
        <p:spPr>
          <a:xfrm>
            <a:off x="457199" y="3194465"/>
            <a:ext cx="8229599" cy="2498310"/>
          </a:xfrm>
        </p:spPr>
        <p:txBody>
          <a:bodyPr tIns="0"/>
          <a:lstStyle/>
          <a:p>
            <a:pPr lvl="1"/>
            <a:r>
              <a:rPr lang="en-US" altLang="en-US" dirty="0"/>
              <a:t>To determine value of binary number sum position values of the 1s</a:t>
            </a:r>
          </a:p>
          <a:p>
            <a:r>
              <a:rPr lang="en-US" altLang="en-US" b="1" dirty="0"/>
              <a:t>Byte size limits are 0 and 255 </a:t>
            </a:r>
          </a:p>
          <a:p>
            <a:pPr lvl="1"/>
            <a:r>
              <a:rPr lang="en-US" altLang="en-US" dirty="0"/>
              <a:t>0 = all bits off </a:t>
            </a:r>
            <a:r>
              <a:rPr lang="en-US" altLang="en-US" sz="1400" dirty="0">
                <a:solidFill>
                  <a:schemeClr val="accent5">
                    <a:lumMod val="75000"/>
                  </a:schemeClr>
                </a:solidFill>
              </a:rPr>
              <a:t>0000 0000</a:t>
            </a:r>
            <a:r>
              <a:rPr lang="en-US" altLang="en-US" dirty="0"/>
              <a:t>; 255 = all bits on </a:t>
            </a:r>
            <a:r>
              <a:rPr lang="en-US" altLang="en-US" sz="1400" dirty="0">
                <a:solidFill>
                  <a:schemeClr val="accent5">
                    <a:lumMod val="75000"/>
                  </a:schemeClr>
                </a:solidFill>
              </a:rPr>
              <a:t>1111 1111</a:t>
            </a:r>
            <a:endParaRPr lang="en-US" altLang="en-US" dirty="0"/>
          </a:p>
          <a:p>
            <a:pPr lvl="1"/>
            <a:r>
              <a:rPr lang="en-US" altLang="en-US" dirty="0"/>
              <a:t>To store larger number, use several bytes</a:t>
            </a:r>
            <a:endParaRPr lang="en-US" dirty="0"/>
          </a:p>
        </p:txBody>
      </p:sp>
      <p:sp>
        <p:nvSpPr>
          <p:cNvPr id="3" name="TextBox 2">
            <a:extLst>
              <a:ext uri="{FF2B5EF4-FFF2-40B4-BE49-F238E27FC236}">
                <a16:creationId xmlns:a16="http://schemas.microsoft.com/office/drawing/2014/main" id="{51CF6FB2-89D2-0489-6D65-1AC3186AD1A4}"/>
              </a:ext>
            </a:extLst>
          </p:cNvPr>
          <p:cNvSpPr txBox="1"/>
          <p:nvPr/>
        </p:nvSpPr>
        <p:spPr>
          <a:xfrm>
            <a:off x="5978770" y="1598643"/>
            <a:ext cx="2827605" cy="523220"/>
          </a:xfrm>
          <a:prstGeom prst="rect">
            <a:avLst/>
          </a:prstGeom>
          <a:noFill/>
        </p:spPr>
        <p:txBody>
          <a:bodyPr wrap="square" rtlCol="0">
            <a:spAutoFit/>
          </a:bodyPr>
          <a:lstStyle/>
          <a:p>
            <a:r>
              <a:rPr lang="en-US" altLang="en-US" dirty="0">
                <a:solidFill>
                  <a:schemeClr val="accent5">
                    <a:lumMod val="75000"/>
                  </a:schemeClr>
                </a:solidFill>
              </a:rPr>
              <a:t>the smallest unit of storage in computer system</a:t>
            </a:r>
          </a:p>
        </p:txBody>
      </p:sp>
      <p:sp>
        <p:nvSpPr>
          <p:cNvPr id="7" name="TextBox 6">
            <a:extLst>
              <a:ext uri="{FF2B5EF4-FFF2-40B4-BE49-F238E27FC236}">
                <a16:creationId xmlns:a16="http://schemas.microsoft.com/office/drawing/2014/main" id="{D49C2121-2C67-28B4-2A24-0016E1ECDBBF}"/>
              </a:ext>
            </a:extLst>
          </p:cNvPr>
          <p:cNvSpPr txBox="1"/>
          <p:nvPr/>
        </p:nvSpPr>
        <p:spPr>
          <a:xfrm>
            <a:off x="267287" y="5473078"/>
            <a:ext cx="6682153" cy="1169551"/>
          </a:xfrm>
          <a:prstGeom prst="rect">
            <a:avLst/>
          </a:prstGeom>
          <a:noFill/>
        </p:spPr>
        <p:txBody>
          <a:bodyPr wrap="square" rtlCol="0">
            <a:spAutoFit/>
          </a:bodyPr>
          <a:lstStyle/>
          <a:p>
            <a:r>
              <a:rPr lang="en-US" dirty="0">
                <a:solidFill>
                  <a:schemeClr val="accent5">
                    <a:lumMod val="75000"/>
                  </a:schemeClr>
                </a:solidFill>
              </a:rPr>
              <a:t>The basic unit to size the storage: Byte</a:t>
            </a:r>
          </a:p>
          <a:p>
            <a:r>
              <a:rPr lang="en-US" dirty="0">
                <a:solidFill>
                  <a:schemeClr val="accent5">
                    <a:lumMod val="75000"/>
                  </a:schemeClr>
                </a:solidFill>
              </a:rPr>
              <a:t>Other storage units commonly seen:</a:t>
            </a:r>
          </a:p>
          <a:p>
            <a:r>
              <a:rPr lang="en-US" dirty="0">
                <a:solidFill>
                  <a:schemeClr val="accent5">
                    <a:lumMod val="75000"/>
                  </a:schemeClr>
                </a:solidFill>
              </a:rPr>
              <a:t>Word = 8 Bytes (64-bits system)    1KB = 1024 Bytes     IMB = 1024K</a:t>
            </a:r>
          </a:p>
          <a:p>
            <a:r>
              <a:rPr lang="en-US" dirty="0">
                <a:solidFill>
                  <a:schemeClr val="accent5">
                    <a:lumMod val="75000"/>
                  </a:schemeClr>
                </a:solidFill>
              </a:rPr>
              <a:t>1GB = 1025M    1TB = 1024GB   1EB = 1024TB  1ZB = 1024EB   1YB = 1024ZB</a:t>
            </a:r>
          </a:p>
          <a:p>
            <a:endParaRPr lang="en-US" dirty="0">
              <a:solidFill>
                <a:schemeClr val="accent5">
                  <a:lumMod val="75000"/>
                </a:schemeClr>
              </a:solidFill>
            </a:endParaRPr>
          </a:p>
        </p:txBody>
      </p:sp>
      <p:sp>
        <p:nvSpPr>
          <p:cNvPr id="8" name="TextBox 7">
            <a:extLst>
              <a:ext uri="{FF2B5EF4-FFF2-40B4-BE49-F238E27FC236}">
                <a16:creationId xmlns:a16="http://schemas.microsoft.com/office/drawing/2014/main" id="{AF079BCC-6393-0C0C-4B10-E8F90DE0B34E}"/>
              </a:ext>
            </a:extLst>
          </p:cNvPr>
          <p:cNvSpPr txBox="1"/>
          <p:nvPr/>
        </p:nvSpPr>
        <p:spPr>
          <a:xfrm>
            <a:off x="6378910" y="5378074"/>
            <a:ext cx="2497800" cy="307777"/>
          </a:xfrm>
          <a:prstGeom prst="rect">
            <a:avLst/>
          </a:prstGeom>
          <a:noFill/>
        </p:spPr>
        <p:txBody>
          <a:bodyPr wrap="none" rtlCol="0">
            <a:spAutoFit/>
          </a:bodyPr>
          <a:lstStyle/>
          <a:p>
            <a:r>
              <a:rPr lang="en-US" dirty="0">
                <a:solidFill>
                  <a:schemeClr val="accent5">
                    <a:lumMod val="75000"/>
                  </a:schemeClr>
                </a:solidFill>
              </a:rPr>
              <a:t>256 </a:t>
            </a:r>
            <a:r>
              <a:rPr lang="en-US" dirty="0">
                <a:solidFill>
                  <a:schemeClr val="accent5">
                    <a:lumMod val="75000"/>
                  </a:schemeClr>
                </a:solidFill>
                <a:sym typeface="Wingdings" pitchFamily="2" charset="2"/>
              </a:rPr>
              <a:t> 0000 0001 1111 1111</a:t>
            </a:r>
            <a:endParaRPr lang="en-US" dirty="0">
              <a:solidFill>
                <a:schemeClr val="accent5">
                  <a:lumMod val="75000"/>
                </a:schemeClr>
              </a:solidFill>
            </a:endParaRPr>
          </a:p>
        </p:txBody>
      </p:sp>
    </p:spTree>
    <p:extLst>
      <p:ext uri="{BB962C8B-B14F-4D97-AF65-F5344CB8AC3E}">
        <p14:creationId xmlns:p14="http://schemas.microsoft.com/office/powerpoint/2010/main" val="788743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34E60-6B3A-150E-144F-CFEEB484F2E5}"/>
              </a:ext>
            </a:extLst>
          </p:cNvPr>
          <p:cNvSpPr>
            <a:spLocks noGrp="1"/>
          </p:cNvSpPr>
          <p:nvPr>
            <p:ph type="title"/>
          </p:nvPr>
        </p:nvSpPr>
        <p:spPr/>
        <p:txBody>
          <a:bodyPr/>
          <a:lstStyle/>
          <a:p>
            <a:r>
              <a:rPr lang="en-US" altLang="zh-CN" dirty="0"/>
              <a:t>Conversion:</a:t>
            </a:r>
            <a:r>
              <a:rPr lang="zh-CN" altLang="en-US" dirty="0"/>
              <a:t> </a:t>
            </a:r>
            <a:r>
              <a:rPr lang="en-US" altLang="zh-CN" dirty="0"/>
              <a:t>Decimal</a:t>
            </a:r>
            <a:r>
              <a:rPr lang="zh-CN" altLang="en-US" dirty="0"/>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Binary</a:t>
            </a:r>
            <a:endParaRPr lang="en-US" dirty="0"/>
          </a:p>
        </p:txBody>
      </p:sp>
      <p:pic>
        <p:nvPicPr>
          <p:cNvPr id="9" name="Picture 8">
            <a:extLst>
              <a:ext uri="{FF2B5EF4-FFF2-40B4-BE49-F238E27FC236}">
                <a16:creationId xmlns:a16="http://schemas.microsoft.com/office/drawing/2014/main" id="{1FB6BA2D-EC1B-90B2-066A-E8C4D159ED94}"/>
              </a:ext>
            </a:extLst>
          </p:cNvPr>
          <p:cNvPicPr>
            <a:picLocks noChangeAspect="1"/>
          </p:cNvPicPr>
          <p:nvPr/>
        </p:nvPicPr>
        <p:blipFill>
          <a:blip r:embed="rId2"/>
          <a:stretch>
            <a:fillRect/>
          </a:stretch>
        </p:blipFill>
        <p:spPr>
          <a:xfrm>
            <a:off x="4572000" y="3301138"/>
            <a:ext cx="4083261" cy="2737819"/>
          </a:xfrm>
          <a:prstGeom prst="rect">
            <a:avLst/>
          </a:prstGeom>
        </p:spPr>
      </p:pic>
      <p:pic>
        <p:nvPicPr>
          <p:cNvPr id="10" name="Picture 9">
            <a:extLst>
              <a:ext uri="{FF2B5EF4-FFF2-40B4-BE49-F238E27FC236}">
                <a16:creationId xmlns:a16="http://schemas.microsoft.com/office/drawing/2014/main" id="{B76F30BE-5BFF-FD57-332C-FE76FCD0DDB2}"/>
              </a:ext>
            </a:extLst>
          </p:cNvPr>
          <p:cNvPicPr>
            <a:picLocks noChangeAspect="1"/>
          </p:cNvPicPr>
          <p:nvPr/>
        </p:nvPicPr>
        <p:blipFill>
          <a:blip r:embed="rId3"/>
          <a:stretch>
            <a:fillRect/>
          </a:stretch>
        </p:blipFill>
        <p:spPr>
          <a:xfrm>
            <a:off x="457200" y="1464806"/>
            <a:ext cx="3843825" cy="2737819"/>
          </a:xfrm>
          <a:prstGeom prst="rect">
            <a:avLst/>
          </a:prstGeom>
        </p:spPr>
      </p:pic>
      <p:sp>
        <p:nvSpPr>
          <p:cNvPr id="11" name="TextBox 10">
            <a:extLst>
              <a:ext uri="{FF2B5EF4-FFF2-40B4-BE49-F238E27FC236}">
                <a16:creationId xmlns:a16="http://schemas.microsoft.com/office/drawing/2014/main" id="{32910B52-D986-7516-35D2-50C1120F0F87}"/>
              </a:ext>
            </a:extLst>
          </p:cNvPr>
          <p:cNvSpPr txBox="1"/>
          <p:nvPr/>
        </p:nvSpPr>
        <p:spPr>
          <a:xfrm>
            <a:off x="1673817" y="4618495"/>
            <a:ext cx="1673817" cy="369332"/>
          </a:xfrm>
          <a:prstGeom prst="rect">
            <a:avLst/>
          </a:prstGeom>
          <a:noFill/>
        </p:spPr>
        <p:txBody>
          <a:bodyPr wrap="square" rtlCol="0">
            <a:spAutoFit/>
          </a:bodyPr>
          <a:lstStyle/>
          <a:p>
            <a:r>
              <a:rPr lang="en-US" altLang="zh-CN" sz="1800" dirty="0">
                <a:solidFill>
                  <a:schemeClr val="accent5">
                    <a:lumMod val="75000"/>
                  </a:schemeClr>
                </a:solidFill>
              </a:rPr>
              <a:t>000</a:t>
            </a:r>
            <a:r>
              <a:rPr lang="en-US" altLang="zh-CN" sz="1800" dirty="0">
                <a:solidFill>
                  <a:schemeClr val="tx1"/>
                </a:solidFill>
              </a:rPr>
              <a:t>11001</a:t>
            </a:r>
            <a:endParaRPr lang="en-US" sz="1800" dirty="0">
              <a:solidFill>
                <a:schemeClr val="tx1"/>
              </a:solidFill>
            </a:endParaRPr>
          </a:p>
        </p:txBody>
      </p:sp>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365598E7-A666-C29A-904A-70AF35D9E0A7}"/>
                  </a:ext>
                </a:extLst>
              </p14:cNvPr>
              <p14:cNvContentPartPr/>
              <p14:nvPr/>
            </p14:nvContentPartPr>
            <p14:xfrm>
              <a:off x="2406533" y="4309536"/>
              <a:ext cx="89280" cy="340200"/>
            </p14:xfrm>
          </p:contentPart>
        </mc:Choice>
        <mc:Fallback xmlns="">
          <p:pic>
            <p:nvPicPr>
              <p:cNvPr id="12" name="Ink 11">
                <a:extLst>
                  <a:ext uri="{FF2B5EF4-FFF2-40B4-BE49-F238E27FC236}">
                    <a16:creationId xmlns:a16="http://schemas.microsoft.com/office/drawing/2014/main" id="{365598E7-A666-C29A-904A-70AF35D9E0A7}"/>
                  </a:ext>
                </a:extLst>
              </p:cNvPr>
              <p:cNvPicPr/>
              <p:nvPr/>
            </p:nvPicPr>
            <p:blipFill>
              <a:blip r:embed="rId5"/>
              <a:stretch>
                <a:fillRect/>
              </a:stretch>
            </p:blipFill>
            <p:spPr>
              <a:xfrm>
                <a:off x="2400413" y="4303416"/>
                <a:ext cx="101520" cy="352440"/>
              </a:xfrm>
              <a:prstGeom prst="rect">
                <a:avLst/>
              </a:prstGeom>
            </p:spPr>
          </p:pic>
        </mc:Fallback>
      </mc:AlternateContent>
    </p:spTree>
    <p:extLst>
      <p:ext uri="{BB962C8B-B14F-4D97-AF65-F5344CB8AC3E}">
        <p14:creationId xmlns:p14="http://schemas.microsoft.com/office/powerpoint/2010/main" val="148313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6D382-D007-4DDA-AA41-17BBE4F34230}"/>
              </a:ext>
            </a:extLst>
          </p:cNvPr>
          <p:cNvSpPr>
            <a:spLocks noGrp="1"/>
          </p:cNvSpPr>
          <p:nvPr>
            <p:ph type="title"/>
          </p:nvPr>
        </p:nvSpPr>
        <p:spPr/>
        <p:txBody>
          <a:bodyPr/>
          <a:lstStyle/>
          <a:p>
            <a:r>
              <a:rPr lang="en-US" altLang="en-US"/>
              <a:t>Storing Characters</a:t>
            </a:r>
            <a:endParaRPr lang="en-US"/>
          </a:p>
        </p:txBody>
      </p:sp>
      <p:sp>
        <p:nvSpPr>
          <p:cNvPr id="3" name="Content Placeholder 2">
            <a:extLst>
              <a:ext uri="{FF2B5EF4-FFF2-40B4-BE49-F238E27FC236}">
                <a16:creationId xmlns:a16="http://schemas.microsoft.com/office/drawing/2014/main" id="{809F2001-4415-40B7-87F3-C21A88A4BD9F}"/>
              </a:ext>
            </a:extLst>
          </p:cNvPr>
          <p:cNvSpPr>
            <a:spLocks noGrp="1"/>
          </p:cNvSpPr>
          <p:nvPr>
            <p:ph sz="quarter" idx="13"/>
          </p:nvPr>
        </p:nvSpPr>
        <p:spPr/>
        <p:txBody>
          <a:bodyPr/>
          <a:lstStyle/>
          <a:p>
            <a:r>
              <a:rPr lang="en-US" altLang="en-US" b="1" dirty="0"/>
              <a:t>Data stored in computer must be stored as binary number</a:t>
            </a:r>
          </a:p>
          <a:p>
            <a:r>
              <a:rPr lang="en-US" altLang="en-US" b="1" dirty="0"/>
              <a:t>Characters are </a:t>
            </a:r>
            <a:r>
              <a:rPr lang="en-US" altLang="zh-CN" b="1" dirty="0"/>
              <a:t>represented</a:t>
            </a:r>
            <a:r>
              <a:rPr lang="zh-CN" altLang="en-US" b="1" dirty="0"/>
              <a:t> </a:t>
            </a:r>
            <a:r>
              <a:rPr lang="en-US" altLang="zh-CN" b="1" dirty="0"/>
              <a:t>by</a:t>
            </a:r>
            <a:r>
              <a:rPr lang="zh-CN" altLang="en-US" b="1" dirty="0"/>
              <a:t> </a:t>
            </a:r>
            <a:r>
              <a:rPr lang="en-US" altLang="zh-CN" b="1" dirty="0"/>
              <a:t>the</a:t>
            </a:r>
            <a:r>
              <a:rPr lang="en-US" altLang="en-US" b="1" dirty="0"/>
              <a:t> numeric code, </a:t>
            </a:r>
            <a:r>
              <a:rPr lang="en-US" altLang="zh-CN" b="1" dirty="0"/>
              <a:t>then</a:t>
            </a:r>
            <a:r>
              <a:rPr lang="zh-CN" altLang="en-US" b="1" dirty="0"/>
              <a:t> </a:t>
            </a:r>
            <a:r>
              <a:rPr lang="en-US" altLang="zh-CN" b="1" dirty="0"/>
              <a:t>further</a:t>
            </a:r>
            <a:r>
              <a:rPr lang="zh-CN" altLang="en-US" b="1" dirty="0"/>
              <a:t> </a:t>
            </a:r>
            <a:r>
              <a:rPr lang="en-US" altLang="zh-CN" b="1" dirty="0"/>
              <a:t>converted</a:t>
            </a:r>
            <a:r>
              <a:rPr lang="zh-CN" altLang="en-US" b="1" dirty="0"/>
              <a:t> </a:t>
            </a:r>
            <a:r>
              <a:rPr lang="en-US" altLang="zh-CN" b="1" dirty="0"/>
              <a:t>to</a:t>
            </a:r>
            <a:r>
              <a:rPr lang="zh-CN" altLang="en-US" b="1" dirty="0"/>
              <a:t> </a:t>
            </a:r>
            <a:r>
              <a:rPr lang="en-US" altLang="zh-CN" b="1" dirty="0"/>
              <a:t>binary</a:t>
            </a:r>
            <a:r>
              <a:rPr lang="zh-CN" altLang="en-US" b="1" dirty="0"/>
              <a:t> </a:t>
            </a:r>
            <a:r>
              <a:rPr lang="en-US" altLang="zh-CN" b="1" dirty="0"/>
              <a:t>form</a:t>
            </a:r>
            <a:r>
              <a:rPr lang="zh-CN" altLang="en-US" b="1" dirty="0"/>
              <a:t> </a:t>
            </a:r>
            <a:r>
              <a:rPr lang="en-US" altLang="zh-CN" b="1" dirty="0"/>
              <a:t>to</a:t>
            </a:r>
            <a:r>
              <a:rPr lang="zh-CN" altLang="en-US" b="1" dirty="0"/>
              <a:t> </a:t>
            </a:r>
            <a:r>
              <a:rPr lang="en-US" altLang="zh-CN" b="1" dirty="0"/>
              <a:t>be</a:t>
            </a:r>
            <a:r>
              <a:rPr lang="zh-CN" altLang="en-US" b="1" dirty="0"/>
              <a:t> </a:t>
            </a:r>
            <a:r>
              <a:rPr lang="en-US" altLang="zh-CN" b="1" dirty="0"/>
              <a:t>stored</a:t>
            </a:r>
            <a:r>
              <a:rPr lang="zh-CN" altLang="en-US" b="1" dirty="0"/>
              <a:t> </a:t>
            </a:r>
            <a:r>
              <a:rPr lang="en-US" altLang="zh-CN" b="1" dirty="0"/>
              <a:t>in</a:t>
            </a:r>
            <a:r>
              <a:rPr lang="zh-CN" altLang="en-US" b="1" dirty="0"/>
              <a:t> </a:t>
            </a:r>
            <a:r>
              <a:rPr lang="en-US" altLang="zh-CN" b="1" dirty="0"/>
              <a:t>memory.</a:t>
            </a:r>
            <a:endParaRPr lang="en-US" altLang="en-US" b="1" dirty="0"/>
          </a:p>
          <a:p>
            <a:pPr lvl="1"/>
            <a:r>
              <a:rPr lang="en-US" altLang="en-US" dirty="0"/>
              <a:t>Most important coding scheme is </a:t>
            </a:r>
            <a:r>
              <a:rPr lang="en-US" altLang="en-US" u="sng" dirty="0"/>
              <a:t>ASCII</a:t>
            </a:r>
          </a:p>
          <a:p>
            <a:pPr lvl="2"/>
            <a:r>
              <a:rPr lang="en-US" altLang="en-US" dirty="0"/>
              <a:t>ASCII is limited: defines codes for only 128 characters</a:t>
            </a:r>
          </a:p>
          <a:p>
            <a:pPr lvl="1"/>
            <a:r>
              <a:rPr lang="en-US" altLang="en-US" u="sng" dirty="0"/>
              <a:t>Unicode</a:t>
            </a:r>
            <a:r>
              <a:rPr lang="en-US" altLang="en-US" dirty="0"/>
              <a:t> coding scheme becoming standard</a:t>
            </a:r>
          </a:p>
          <a:p>
            <a:pPr lvl="2"/>
            <a:r>
              <a:rPr lang="en-US" altLang="en-US" dirty="0"/>
              <a:t>Compatible with ASCII</a:t>
            </a:r>
          </a:p>
          <a:p>
            <a:pPr lvl="2"/>
            <a:r>
              <a:rPr lang="en-US" altLang="en-US" dirty="0"/>
              <a:t>Can represent characters for other languages </a:t>
            </a:r>
          </a:p>
          <a:p>
            <a:pPr marL="912600" lvl="2" indent="0">
              <a:buNone/>
            </a:pPr>
            <a:r>
              <a:rPr lang="en-US" altLang="en-US" sz="1600" dirty="0">
                <a:solidFill>
                  <a:schemeClr val="accent5">
                    <a:lumMod val="75000"/>
                  </a:schemeClr>
                </a:solidFill>
              </a:rPr>
              <a:t>UTF-8,UTF-16</a:t>
            </a:r>
            <a:endParaRPr lang="en-US" dirty="0">
              <a:solidFill>
                <a:schemeClr val="accent5">
                  <a:lumMod val="75000"/>
                </a:schemeClr>
              </a:solidFill>
            </a:endParaRPr>
          </a:p>
        </p:txBody>
      </p:sp>
    </p:spTree>
    <p:extLst>
      <p:ext uri="{BB962C8B-B14F-4D97-AF65-F5344CB8AC3E}">
        <p14:creationId xmlns:p14="http://schemas.microsoft.com/office/powerpoint/2010/main" val="1801923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DCB5-D0F6-2F38-E59F-982E5C389F48}"/>
              </a:ext>
            </a:extLst>
          </p:cNvPr>
          <p:cNvSpPr>
            <a:spLocks noGrp="1"/>
          </p:cNvSpPr>
          <p:nvPr>
            <p:ph type="title"/>
          </p:nvPr>
        </p:nvSpPr>
        <p:spPr>
          <a:xfrm>
            <a:off x="457200" y="215371"/>
            <a:ext cx="8229600" cy="1097279"/>
          </a:xfrm>
        </p:spPr>
        <p:txBody>
          <a:bodyPr anchor="b">
            <a:normAutofit/>
          </a:bodyPr>
          <a:lstStyle/>
          <a:p>
            <a:r>
              <a:rPr lang="en-US" dirty="0"/>
              <a:t>ASCII</a:t>
            </a:r>
          </a:p>
        </p:txBody>
      </p:sp>
      <p:pic>
        <p:nvPicPr>
          <p:cNvPr id="4" name="Content Placeholder 3">
            <a:extLst>
              <a:ext uri="{FF2B5EF4-FFF2-40B4-BE49-F238E27FC236}">
                <a16:creationId xmlns:a16="http://schemas.microsoft.com/office/drawing/2014/main" id="{06EB4A02-40F7-C2F2-4D43-FEA4B1E19DC3}"/>
              </a:ext>
            </a:extLst>
          </p:cNvPr>
          <p:cNvPicPr>
            <a:picLocks noGrp="1" noChangeAspect="1"/>
          </p:cNvPicPr>
          <p:nvPr>
            <p:ph sz="quarter" idx="13"/>
          </p:nvPr>
        </p:nvPicPr>
        <p:blipFill>
          <a:blip r:embed="rId2"/>
          <a:stretch>
            <a:fillRect/>
          </a:stretch>
        </p:blipFill>
        <p:spPr>
          <a:xfrm>
            <a:off x="2338667" y="57145"/>
            <a:ext cx="4466663" cy="4165162"/>
          </a:xfrm>
          <a:prstGeom prst="rect">
            <a:avLst/>
          </a:prstGeom>
          <a:noFill/>
        </p:spPr>
      </p:pic>
      <p:pic>
        <p:nvPicPr>
          <p:cNvPr id="5" name="Picture 4">
            <a:extLst>
              <a:ext uri="{FF2B5EF4-FFF2-40B4-BE49-F238E27FC236}">
                <a16:creationId xmlns:a16="http://schemas.microsoft.com/office/drawing/2014/main" id="{F7026522-E45F-4624-B386-7581502A1C3B}"/>
              </a:ext>
            </a:extLst>
          </p:cNvPr>
          <p:cNvPicPr>
            <a:picLocks noChangeAspect="1"/>
          </p:cNvPicPr>
          <p:nvPr/>
        </p:nvPicPr>
        <p:blipFill>
          <a:blip r:embed="rId3"/>
          <a:stretch>
            <a:fillRect/>
          </a:stretch>
        </p:blipFill>
        <p:spPr>
          <a:xfrm>
            <a:off x="2338667" y="4222307"/>
            <a:ext cx="4474849" cy="2420322"/>
          </a:xfrm>
          <a:prstGeom prst="rect">
            <a:avLst/>
          </a:prstGeom>
          <a:noFill/>
        </p:spPr>
      </p:pic>
      <p:sp>
        <p:nvSpPr>
          <p:cNvPr id="6" name="TextBox 5">
            <a:extLst>
              <a:ext uri="{FF2B5EF4-FFF2-40B4-BE49-F238E27FC236}">
                <a16:creationId xmlns:a16="http://schemas.microsoft.com/office/drawing/2014/main" id="{50CA4C61-37E5-E62E-D7D4-831A8E88E498}"/>
              </a:ext>
            </a:extLst>
          </p:cNvPr>
          <p:cNvSpPr txBox="1"/>
          <p:nvPr/>
        </p:nvSpPr>
        <p:spPr>
          <a:xfrm>
            <a:off x="7136970" y="573986"/>
            <a:ext cx="1983783" cy="954107"/>
          </a:xfrm>
          <a:prstGeom prst="rect">
            <a:avLst/>
          </a:prstGeom>
          <a:noFill/>
        </p:spPr>
        <p:txBody>
          <a:bodyPr wrap="square" rtlCol="0">
            <a:spAutoFit/>
          </a:bodyPr>
          <a:lstStyle/>
          <a:p>
            <a:r>
              <a:rPr lang="en-US" dirty="0">
                <a:solidFill>
                  <a:schemeClr val="accent5">
                    <a:lumMod val="75000"/>
                  </a:schemeClr>
                </a:solidFill>
              </a:rPr>
              <a:t>I missed code “0” in the left screenshot.  Code “0” is for “null”</a:t>
            </a:r>
          </a:p>
          <a:p>
            <a:endParaRPr lang="en-US" dirty="0">
              <a:solidFill>
                <a:schemeClr val="accent5">
                  <a:lumMod val="75000"/>
                </a:schemeClr>
              </a:solidFill>
            </a:endParaRPr>
          </a:p>
        </p:txBody>
      </p:sp>
    </p:spTree>
    <p:extLst>
      <p:ext uri="{BB962C8B-B14F-4D97-AF65-F5344CB8AC3E}">
        <p14:creationId xmlns:p14="http://schemas.microsoft.com/office/powerpoint/2010/main" val="1689253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F68C4-6561-4D2A-BE1A-8B1EE075C413}"/>
              </a:ext>
            </a:extLst>
          </p:cNvPr>
          <p:cNvSpPr>
            <a:spLocks noGrp="1"/>
          </p:cNvSpPr>
          <p:nvPr>
            <p:ph type="title"/>
          </p:nvPr>
        </p:nvSpPr>
        <p:spPr/>
        <p:txBody>
          <a:bodyPr/>
          <a:lstStyle/>
          <a:p>
            <a:r>
              <a:rPr lang="en-US" altLang="en-US"/>
              <a:t>Advanced Number Storage</a:t>
            </a:r>
            <a:endParaRPr lang="en-US"/>
          </a:p>
        </p:txBody>
      </p:sp>
      <p:sp>
        <p:nvSpPr>
          <p:cNvPr id="3" name="Content Placeholder 2">
            <a:extLst>
              <a:ext uri="{FF2B5EF4-FFF2-40B4-BE49-F238E27FC236}">
                <a16:creationId xmlns:a16="http://schemas.microsoft.com/office/drawing/2014/main" id="{DA198FC2-E517-44C1-A0D2-38B6D62D0C51}"/>
              </a:ext>
            </a:extLst>
          </p:cNvPr>
          <p:cNvSpPr>
            <a:spLocks noGrp="1"/>
          </p:cNvSpPr>
          <p:nvPr>
            <p:ph sz="quarter" idx="13"/>
          </p:nvPr>
        </p:nvSpPr>
        <p:spPr>
          <a:xfrm>
            <a:off x="457200" y="1556326"/>
            <a:ext cx="8229600" cy="2160000"/>
          </a:xfrm>
        </p:spPr>
        <p:txBody>
          <a:bodyPr/>
          <a:lstStyle/>
          <a:p>
            <a:r>
              <a:rPr lang="en-US" altLang="en-US" b="1" dirty="0"/>
              <a:t>To store negative numbers and real numbers, computers use binary numbering and encoding schemes</a:t>
            </a:r>
          </a:p>
          <a:p>
            <a:pPr lvl="1"/>
            <a:r>
              <a:rPr lang="en-US" altLang="en-US" dirty="0"/>
              <a:t>Negative numbers encoded using </a:t>
            </a:r>
            <a:r>
              <a:rPr lang="en-US" altLang="en-US" u="sng" dirty="0"/>
              <a:t>two’s complement</a:t>
            </a:r>
          </a:p>
          <a:p>
            <a:pPr lvl="1"/>
            <a:r>
              <a:rPr lang="en-US" altLang="en-US" dirty="0"/>
              <a:t>Real numbers encoded using </a:t>
            </a:r>
            <a:r>
              <a:rPr lang="en-US" altLang="en-US" u="sng" dirty="0"/>
              <a:t>floating-point notation</a:t>
            </a:r>
            <a:endParaRPr lang="en-US" u="sng" dirty="0"/>
          </a:p>
        </p:txBody>
      </p:sp>
      <p:pic>
        <p:nvPicPr>
          <p:cNvPr id="4" name="Picture 3">
            <a:extLst>
              <a:ext uri="{FF2B5EF4-FFF2-40B4-BE49-F238E27FC236}">
                <a16:creationId xmlns:a16="http://schemas.microsoft.com/office/drawing/2014/main" id="{79D981B6-E033-73CD-ED06-7A91E0CAC32C}"/>
              </a:ext>
            </a:extLst>
          </p:cNvPr>
          <p:cNvPicPr>
            <a:picLocks noChangeAspect="1"/>
          </p:cNvPicPr>
          <p:nvPr/>
        </p:nvPicPr>
        <p:blipFill>
          <a:blip r:embed="rId3"/>
          <a:stretch>
            <a:fillRect/>
          </a:stretch>
        </p:blipFill>
        <p:spPr>
          <a:xfrm>
            <a:off x="685799" y="3960002"/>
            <a:ext cx="4997641" cy="1797331"/>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C4987CF-A0CB-967D-0D74-7CFC2E8F280F}"/>
                  </a:ext>
                </a:extLst>
              </p14:cNvPr>
              <p14:cNvContentPartPr/>
              <p14:nvPr/>
            </p14:nvContentPartPr>
            <p14:xfrm>
              <a:off x="4589293" y="5410173"/>
              <a:ext cx="903240" cy="417960"/>
            </p14:xfrm>
          </p:contentPart>
        </mc:Choice>
        <mc:Fallback xmlns="">
          <p:pic>
            <p:nvPicPr>
              <p:cNvPr id="5" name="Ink 4">
                <a:extLst>
                  <a:ext uri="{FF2B5EF4-FFF2-40B4-BE49-F238E27FC236}">
                    <a16:creationId xmlns:a16="http://schemas.microsoft.com/office/drawing/2014/main" id="{CC4987CF-A0CB-967D-0D74-7CFC2E8F280F}"/>
                  </a:ext>
                </a:extLst>
              </p:cNvPr>
              <p:cNvPicPr/>
              <p:nvPr/>
            </p:nvPicPr>
            <p:blipFill>
              <a:blip r:embed="rId5"/>
              <a:stretch>
                <a:fillRect/>
              </a:stretch>
            </p:blipFill>
            <p:spPr>
              <a:xfrm>
                <a:off x="4583173" y="5404053"/>
                <a:ext cx="915480" cy="430200"/>
              </a:xfrm>
              <a:prstGeom prst="rect">
                <a:avLst/>
              </a:prstGeom>
            </p:spPr>
          </p:pic>
        </mc:Fallback>
      </mc:AlternateContent>
    </p:spTree>
    <p:extLst>
      <p:ext uri="{BB962C8B-B14F-4D97-AF65-F5344CB8AC3E}">
        <p14:creationId xmlns:p14="http://schemas.microsoft.com/office/powerpoint/2010/main" val="1014345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9569-2678-45D9-BAFD-FAFFD3F4489F}"/>
              </a:ext>
            </a:extLst>
          </p:cNvPr>
          <p:cNvSpPr>
            <a:spLocks noGrp="1"/>
          </p:cNvSpPr>
          <p:nvPr>
            <p:ph type="title"/>
          </p:nvPr>
        </p:nvSpPr>
        <p:spPr>
          <a:solidFill>
            <a:schemeClr val="bg1">
              <a:lumMod val="95000"/>
            </a:schemeClr>
          </a:solidFill>
        </p:spPr>
        <p:txBody>
          <a:bodyPr/>
          <a:lstStyle/>
          <a:p>
            <a:r>
              <a:rPr lang="en-US" altLang="en-US" dirty="0"/>
              <a:t>Other Types of Data</a:t>
            </a:r>
            <a:endParaRPr lang="en-US" dirty="0"/>
          </a:p>
        </p:txBody>
      </p:sp>
      <p:sp>
        <p:nvSpPr>
          <p:cNvPr id="3" name="Content Placeholder 2">
            <a:extLst>
              <a:ext uri="{FF2B5EF4-FFF2-40B4-BE49-F238E27FC236}">
                <a16:creationId xmlns:a16="http://schemas.microsoft.com/office/drawing/2014/main" id="{0AED1439-4D8F-4915-826C-8777FCA5E08D}"/>
              </a:ext>
            </a:extLst>
          </p:cNvPr>
          <p:cNvSpPr>
            <a:spLocks noGrp="1"/>
          </p:cNvSpPr>
          <p:nvPr>
            <p:ph sz="quarter" idx="13"/>
          </p:nvPr>
        </p:nvSpPr>
        <p:spPr>
          <a:xfrm>
            <a:off x="457200" y="1556326"/>
            <a:ext cx="8128660" cy="4274457"/>
          </a:xfrm>
        </p:spPr>
        <p:txBody>
          <a:bodyPr/>
          <a:lstStyle/>
          <a:p>
            <a:r>
              <a:rPr lang="en-US" altLang="en-US" b="1" dirty="0"/>
              <a:t>Digital: describes any device that stores data as binary numbers</a:t>
            </a:r>
          </a:p>
          <a:p>
            <a:r>
              <a:rPr lang="en-US" altLang="en-US" b="1" dirty="0"/>
              <a:t>Digital images are composed of pixels</a:t>
            </a:r>
          </a:p>
          <a:p>
            <a:pPr lvl="1"/>
            <a:r>
              <a:rPr lang="en-US" altLang="en-US" dirty="0"/>
              <a:t>To store images, each </a:t>
            </a:r>
            <a:r>
              <a:rPr lang="en-US" altLang="en-US" u="sng" dirty="0"/>
              <a:t>pixel</a:t>
            </a:r>
            <a:r>
              <a:rPr lang="en-US" altLang="en-US" dirty="0"/>
              <a:t> is converted to a binary number representing the pixel’s color </a:t>
            </a:r>
            <a:r>
              <a:rPr lang="en-US" altLang="en-US" sz="1400" dirty="0">
                <a:solidFill>
                  <a:schemeClr val="accent5">
                    <a:lumMod val="75000"/>
                  </a:schemeClr>
                </a:solidFill>
              </a:rPr>
              <a:t>more pixels, better quality</a:t>
            </a:r>
            <a:endParaRPr lang="en-US" altLang="en-US" dirty="0"/>
          </a:p>
          <a:p>
            <a:r>
              <a:rPr lang="en-US" altLang="en-US" b="1" dirty="0"/>
              <a:t>Digital music is composed of sections called </a:t>
            </a:r>
            <a:r>
              <a:rPr lang="en-US" altLang="en-US" b="1" u="sng" dirty="0"/>
              <a:t>samples</a:t>
            </a:r>
          </a:p>
          <a:p>
            <a:pPr lvl="1"/>
            <a:r>
              <a:rPr lang="en-US" altLang="en-US" dirty="0"/>
              <a:t>To store music, each sample is converted to a binary number.  </a:t>
            </a:r>
            <a:r>
              <a:rPr lang="en-US" altLang="en-US" sz="1400" dirty="0">
                <a:solidFill>
                  <a:schemeClr val="accent5">
                    <a:lumMod val="75000"/>
                  </a:schemeClr>
                </a:solidFill>
              </a:rPr>
              <a:t>More samples in each second, better quality.</a:t>
            </a:r>
            <a:endParaRPr lang="en-US" dirty="0"/>
          </a:p>
        </p:txBody>
      </p:sp>
    </p:spTree>
    <p:extLst>
      <p:ext uri="{BB962C8B-B14F-4D97-AF65-F5344CB8AC3E}">
        <p14:creationId xmlns:p14="http://schemas.microsoft.com/office/powerpoint/2010/main" val="3170068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269D-F31C-4AF5-BA28-C703CBE656FC}"/>
              </a:ext>
            </a:extLst>
          </p:cNvPr>
          <p:cNvSpPr>
            <a:spLocks noGrp="1"/>
          </p:cNvSpPr>
          <p:nvPr>
            <p:ph type="title"/>
          </p:nvPr>
        </p:nvSpPr>
        <p:spPr/>
        <p:txBody>
          <a:bodyPr/>
          <a:lstStyle/>
          <a:p>
            <a:r>
              <a:rPr lang="en-US" altLang="en-US" dirty="0"/>
              <a:t>1-4 How a Program Works </a:t>
            </a:r>
            <a:r>
              <a:rPr lang="en-US" altLang="en-US" sz="2000" b="0" dirty="0"/>
              <a:t>(1 of 4)</a:t>
            </a:r>
            <a:endParaRPr lang="en-US" sz="2000" b="0" dirty="0"/>
          </a:p>
        </p:txBody>
      </p:sp>
      <p:sp>
        <p:nvSpPr>
          <p:cNvPr id="3" name="Content Placeholder 2">
            <a:extLst>
              <a:ext uri="{FF2B5EF4-FFF2-40B4-BE49-F238E27FC236}">
                <a16:creationId xmlns:a16="http://schemas.microsoft.com/office/drawing/2014/main" id="{3559780D-5EC7-446B-B30D-DF75CDA74978}"/>
              </a:ext>
            </a:extLst>
          </p:cNvPr>
          <p:cNvSpPr>
            <a:spLocks noGrp="1"/>
          </p:cNvSpPr>
          <p:nvPr>
            <p:ph sz="quarter" idx="13"/>
          </p:nvPr>
        </p:nvSpPr>
        <p:spPr>
          <a:xfrm>
            <a:off x="457200" y="1556327"/>
            <a:ext cx="8229600" cy="3943325"/>
          </a:xfrm>
        </p:spPr>
        <p:txBody>
          <a:bodyPr/>
          <a:lstStyle/>
          <a:p>
            <a:r>
              <a:rPr lang="en-US" altLang="en-US" b="1" dirty="0"/>
              <a:t>C</a:t>
            </a:r>
            <a:r>
              <a:rPr lang="en-US" altLang="en-US" sz="100" b="1" dirty="0"/>
              <a:t> </a:t>
            </a:r>
            <a:r>
              <a:rPr lang="en-US" altLang="en-US" b="1" dirty="0"/>
              <a:t>P</a:t>
            </a:r>
            <a:r>
              <a:rPr lang="en-US" altLang="en-US" sz="100" b="1" dirty="0"/>
              <a:t> </a:t>
            </a:r>
            <a:r>
              <a:rPr lang="en-US" altLang="en-US" b="1" dirty="0"/>
              <a:t>U designed to perform simple operations on pieces of data</a:t>
            </a:r>
          </a:p>
          <a:p>
            <a:pPr lvl="1"/>
            <a:r>
              <a:rPr lang="en-US" altLang="en-US" dirty="0"/>
              <a:t>Examples: reading data, adding, subtracting, multiplying, and dividing numbers</a:t>
            </a:r>
          </a:p>
          <a:p>
            <a:pPr lvl="1"/>
            <a:r>
              <a:rPr lang="en-US" altLang="en-US" dirty="0"/>
              <a:t>Understands instructions written in machine language and included in its </a:t>
            </a:r>
            <a:r>
              <a:rPr lang="en-US" altLang="en-US" u="sng" dirty="0"/>
              <a:t>instruction set</a:t>
            </a:r>
          </a:p>
          <a:p>
            <a:pPr lvl="2"/>
            <a:r>
              <a:rPr lang="en-US" altLang="en-US" dirty="0"/>
              <a:t>Each brand of C</a:t>
            </a:r>
            <a:r>
              <a:rPr lang="en-US" altLang="en-US" sz="100" dirty="0"/>
              <a:t> </a:t>
            </a:r>
            <a:r>
              <a:rPr lang="en-US" altLang="en-US" dirty="0"/>
              <a:t>P</a:t>
            </a:r>
            <a:r>
              <a:rPr lang="en-US" altLang="en-US" sz="100" dirty="0"/>
              <a:t> </a:t>
            </a:r>
            <a:r>
              <a:rPr lang="en-US" altLang="en-US" dirty="0"/>
              <a:t>U has its own instruction set </a:t>
            </a:r>
            <a:r>
              <a:rPr lang="en-US" altLang="en-US" sz="1800" dirty="0">
                <a:solidFill>
                  <a:schemeClr val="accent5">
                    <a:lumMod val="75000"/>
                  </a:schemeClr>
                </a:solidFill>
              </a:rPr>
              <a:t>(x86-64, ARM)</a:t>
            </a:r>
            <a:endParaRPr lang="en-US" altLang="en-US" dirty="0"/>
          </a:p>
          <a:p>
            <a:r>
              <a:rPr lang="en-US" altLang="en-US" b="1" dirty="0"/>
              <a:t>To carry out meaningful calculation, C</a:t>
            </a:r>
            <a:r>
              <a:rPr lang="en-US" altLang="en-US" sz="100" b="1" dirty="0"/>
              <a:t> </a:t>
            </a:r>
            <a:r>
              <a:rPr lang="en-US" altLang="en-US" b="1" dirty="0"/>
              <a:t>P</a:t>
            </a:r>
            <a:r>
              <a:rPr lang="en-US" altLang="en-US" sz="100" b="1" dirty="0"/>
              <a:t> </a:t>
            </a:r>
            <a:r>
              <a:rPr lang="en-US" altLang="en-US" b="1" dirty="0"/>
              <a:t>U must perform many operations</a:t>
            </a:r>
            <a:endParaRPr lang="en-US" b="1" dirty="0"/>
          </a:p>
        </p:txBody>
      </p:sp>
      <p:sp>
        <p:nvSpPr>
          <p:cNvPr id="4" name="TextBox 3">
            <a:extLst>
              <a:ext uri="{FF2B5EF4-FFF2-40B4-BE49-F238E27FC236}">
                <a16:creationId xmlns:a16="http://schemas.microsoft.com/office/drawing/2014/main" id="{5BF0C2A9-4255-6427-CEAF-5EB75DE80912}"/>
              </a:ext>
            </a:extLst>
          </p:cNvPr>
          <p:cNvSpPr txBox="1"/>
          <p:nvPr/>
        </p:nvSpPr>
        <p:spPr>
          <a:xfrm>
            <a:off x="1483962" y="5743329"/>
            <a:ext cx="6176075" cy="738664"/>
          </a:xfrm>
          <a:prstGeom prst="rect">
            <a:avLst/>
          </a:prstGeom>
          <a:noFill/>
        </p:spPr>
        <p:txBody>
          <a:bodyPr wrap="square" rtlCol="0">
            <a:spAutoFit/>
          </a:bodyPr>
          <a:lstStyle/>
          <a:p>
            <a:r>
              <a:rPr lang="en-US" altLang="zh-CN" dirty="0">
                <a:solidFill>
                  <a:schemeClr val="accent5">
                    <a:lumMod val="75000"/>
                  </a:schemeClr>
                </a:solidFill>
              </a:rPr>
              <a:t>Think</a:t>
            </a:r>
            <a:r>
              <a:rPr lang="zh-CN" altLang="en-US" dirty="0">
                <a:solidFill>
                  <a:schemeClr val="accent5">
                    <a:lumMod val="75000"/>
                  </a:schemeClr>
                </a:solidFill>
              </a:rPr>
              <a:t> </a:t>
            </a:r>
            <a:r>
              <a:rPr lang="en-US" altLang="zh-CN" dirty="0">
                <a:solidFill>
                  <a:schemeClr val="accent5">
                    <a:lumMod val="75000"/>
                  </a:schemeClr>
                </a:solidFill>
              </a:rPr>
              <a:t>“instruction</a:t>
            </a:r>
            <a:r>
              <a:rPr lang="zh-CN" altLang="en-US" dirty="0">
                <a:solidFill>
                  <a:schemeClr val="accent5">
                    <a:lumMod val="75000"/>
                  </a:schemeClr>
                </a:solidFill>
              </a:rPr>
              <a:t> </a:t>
            </a:r>
            <a:r>
              <a:rPr lang="en-US" altLang="zh-CN" dirty="0">
                <a:solidFill>
                  <a:schemeClr val="accent5">
                    <a:lumMod val="75000"/>
                  </a:schemeClr>
                </a:solidFill>
              </a:rPr>
              <a:t>set”</a:t>
            </a:r>
            <a:r>
              <a:rPr lang="zh-CN" altLang="en-US" dirty="0">
                <a:solidFill>
                  <a:schemeClr val="accent5">
                    <a:lumMod val="75000"/>
                  </a:schemeClr>
                </a:solidFill>
              </a:rPr>
              <a:t> </a:t>
            </a:r>
            <a:r>
              <a:rPr lang="en-US" altLang="zh-CN" dirty="0">
                <a:solidFill>
                  <a:schemeClr val="accent5">
                    <a:lumMod val="75000"/>
                  </a:schemeClr>
                </a:solidFill>
              </a:rPr>
              <a:t>as</a:t>
            </a:r>
            <a:r>
              <a:rPr lang="zh-CN" altLang="en-US" dirty="0">
                <a:solidFill>
                  <a:schemeClr val="accent5">
                    <a:lumMod val="75000"/>
                  </a:schemeClr>
                </a:solidFill>
              </a:rPr>
              <a:t> </a:t>
            </a:r>
            <a:r>
              <a:rPr lang="en-US" altLang="zh-CN" dirty="0">
                <a:solidFill>
                  <a:schemeClr val="accent5">
                    <a:lumMod val="75000"/>
                  </a:schemeClr>
                </a:solidFill>
              </a:rPr>
              <a:t>the</a:t>
            </a:r>
            <a:r>
              <a:rPr lang="zh-CN" altLang="en-US" dirty="0">
                <a:solidFill>
                  <a:schemeClr val="accent5">
                    <a:lumMod val="75000"/>
                  </a:schemeClr>
                </a:solidFill>
              </a:rPr>
              <a:t> </a:t>
            </a:r>
            <a:r>
              <a:rPr lang="en-US" altLang="zh-CN" dirty="0">
                <a:solidFill>
                  <a:schemeClr val="accent5">
                    <a:lumMod val="75000"/>
                  </a:schemeClr>
                </a:solidFill>
              </a:rPr>
              <a:t>vocabulary</a:t>
            </a:r>
            <a:r>
              <a:rPr lang="zh-CN" altLang="en-US" dirty="0">
                <a:solidFill>
                  <a:schemeClr val="accent5">
                    <a:lumMod val="75000"/>
                  </a:schemeClr>
                </a:solidFill>
              </a:rPr>
              <a:t> </a:t>
            </a:r>
            <a:r>
              <a:rPr lang="en-US" altLang="zh-CN" dirty="0">
                <a:solidFill>
                  <a:schemeClr val="accent5">
                    <a:lumMod val="75000"/>
                  </a:schemeClr>
                </a:solidFill>
              </a:rPr>
              <a:t>of</a:t>
            </a:r>
            <a:r>
              <a:rPr lang="zh-CN" altLang="en-US" dirty="0">
                <a:solidFill>
                  <a:schemeClr val="accent5">
                    <a:lumMod val="75000"/>
                  </a:schemeClr>
                </a:solidFill>
              </a:rPr>
              <a:t> </a:t>
            </a:r>
            <a:r>
              <a:rPr lang="en-US" altLang="zh-CN" dirty="0">
                <a:solidFill>
                  <a:schemeClr val="accent5">
                    <a:lumMod val="75000"/>
                  </a:schemeClr>
                </a:solidFill>
              </a:rPr>
              <a:t>CPU,</a:t>
            </a:r>
            <a:r>
              <a:rPr lang="zh-CN" altLang="en-US" dirty="0">
                <a:solidFill>
                  <a:schemeClr val="accent5">
                    <a:lumMod val="75000"/>
                  </a:schemeClr>
                </a:solidFill>
              </a:rPr>
              <a:t> </a:t>
            </a:r>
            <a:r>
              <a:rPr lang="en-US" altLang="zh-CN" dirty="0">
                <a:solidFill>
                  <a:schemeClr val="accent5">
                    <a:lumMod val="75000"/>
                  </a:schemeClr>
                </a:solidFill>
              </a:rPr>
              <a:t>and</a:t>
            </a:r>
            <a:r>
              <a:rPr lang="zh-CN" altLang="en-US" dirty="0">
                <a:solidFill>
                  <a:schemeClr val="accent5">
                    <a:lumMod val="75000"/>
                  </a:schemeClr>
                </a:solidFill>
              </a:rPr>
              <a:t> </a:t>
            </a:r>
            <a:r>
              <a:rPr lang="en-US" altLang="zh-CN" dirty="0">
                <a:solidFill>
                  <a:schemeClr val="accent5">
                    <a:lumMod val="75000"/>
                  </a:schemeClr>
                </a:solidFill>
              </a:rPr>
              <a:t>machine</a:t>
            </a:r>
            <a:r>
              <a:rPr lang="zh-CN" altLang="en-US" dirty="0">
                <a:solidFill>
                  <a:schemeClr val="accent5">
                    <a:lumMod val="75000"/>
                  </a:schemeClr>
                </a:solidFill>
              </a:rPr>
              <a:t> </a:t>
            </a:r>
            <a:r>
              <a:rPr lang="en-US" altLang="zh-CN" dirty="0">
                <a:solidFill>
                  <a:schemeClr val="accent5">
                    <a:lumMod val="75000"/>
                  </a:schemeClr>
                </a:solidFill>
              </a:rPr>
              <a:t>language</a:t>
            </a:r>
            <a:r>
              <a:rPr lang="zh-CN" altLang="en-US" dirty="0">
                <a:solidFill>
                  <a:schemeClr val="accent5">
                    <a:lumMod val="75000"/>
                  </a:schemeClr>
                </a:solidFill>
              </a:rPr>
              <a:t> </a:t>
            </a:r>
            <a:r>
              <a:rPr lang="en-US" altLang="zh-CN" dirty="0">
                <a:solidFill>
                  <a:schemeClr val="accent5">
                    <a:lumMod val="75000"/>
                  </a:schemeClr>
                </a:solidFill>
              </a:rPr>
              <a:t>is</a:t>
            </a:r>
            <a:r>
              <a:rPr lang="zh-CN" altLang="en-US" dirty="0">
                <a:solidFill>
                  <a:schemeClr val="accent5">
                    <a:lumMod val="75000"/>
                  </a:schemeClr>
                </a:solidFill>
              </a:rPr>
              <a:t> </a:t>
            </a:r>
            <a:r>
              <a:rPr lang="en-US" altLang="zh-CN" dirty="0">
                <a:solidFill>
                  <a:schemeClr val="accent5">
                    <a:lumMod val="75000"/>
                  </a:schemeClr>
                </a:solidFill>
              </a:rPr>
              <a:t>the</a:t>
            </a:r>
            <a:r>
              <a:rPr lang="zh-CN" altLang="en-US" dirty="0">
                <a:solidFill>
                  <a:schemeClr val="accent5">
                    <a:lumMod val="75000"/>
                  </a:schemeClr>
                </a:solidFill>
              </a:rPr>
              <a:t> </a:t>
            </a:r>
            <a:r>
              <a:rPr lang="en-US" altLang="zh-CN" dirty="0">
                <a:solidFill>
                  <a:schemeClr val="accent5">
                    <a:lumMod val="75000"/>
                  </a:schemeClr>
                </a:solidFill>
              </a:rPr>
              <a:t>binary</a:t>
            </a:r>
            <a:r>
              <a:rPr lang="zh-CN" altLang="en-US" dirty="0">
                <a:solidFill>
                  <a:schemeClr val="accent5">
                    <a:lumMod val="75000"/>
                  </a:schemeClr>
                </a:solidFill>
              </a:rPr>
              <a:t> </a:t>
            </a:r>
            <a:r>
              <a:rPr lang="en-US" altLang="zh-CN" dirty="0">
                <a:solidFill>
                  <a:schemeClr val="accent5">
                    <a:lumMod val="75000"/>
                  </a:schemeClr>
                </a:solidFill>
              </a:rPr>
              <a:t>encoding</a:t>
            </a:r>
            <a:r>
              <a:rPr lang="zh-CN" altLang="en-US" dirty="0">
                <a:solidFill>
                  <a:schemeClr val="accent5">
                    <a:lumMod val="75000"/>
                  </a:schemeClr>
                </a:solidFill>
              </a:rPr>
              <a:t> </a:t>
            </a:r>
            <a:r>
              <a:rPr lang="en-US" altLang="zh-CN" dirty="0">
                <a:solidFill>
                  <a:schemeClr val="accent5">
                    <a:lumMod val="75000"/>
                  </a:schemeClr>
                </a:solidFill>
              </a:rPr>
              <a:t>of</a:t>
            </a:r>
            <a:r>
              <a:rPr lang="zh-CN" altLang="en-US" dirty="0">
                <a:solidFill>
                  <a:schemeClr val="accent5">
                    <a:lumMod val="75000"/>
                  </a:schemeClr>
                </a:solidFill>
              </a:rPr>
              <a:t> </a:t>
            </a:r>
            <a:r>
              <a:rPr lang="en-US" altLang="zh-CN" dirty="0">
                <a:solidFill>
                  <a:schemeClr val="accent5">
                    <a:lumMod val="75000"/>
                  </a:schemeClr>
                </a:solidFill>
              </a:rPr>
              <a:t>the</a:t>
            </a:r>
            <a:r>
              <a:rPr lang="zh-CN" altLang="en-US" dirty="0">
                <a:solidFill>
                  <a:schemeClr val="accent5">
                    <a:lumMod val="75000"/>
                  </a:schemeClr>
                </a:solidFill>
              </a:rPr>
              <a:t> </a:t>
            </a:r>
            <a:r>
              <a:rPr lang="en-US" altLang="zh-CN" dirty="0">
                <a:solidFill>
                  <a:schemeClr val="accent5">
                    <a:lumMod val="75000"/>
                  </a:schemeClr>
                </a:solidFill>
              </a:rPr>
              <a:t>instruction.</a:t>
            </a:r>
          </a:p>
          <a:p>
            <a:r>
              <a:rPr lang="zh-CN" altLang="en-US" dirty="0">
                <a:solidFill>
                  <a:schemeClr val="accent5">
                    <a:lumMod val="75000"/>
                  </a:schemeClr>
                </a:solidFill>
              </a:rPr>
              <a:t> </a:t>
            </a:r>
            <a:endParaRPr lang="en-US" dirty="0">
              <a:solidFill>
                <a:schemeClr val="accent5">
                  <a:lumMod val="75000"/>
                </a:schemeClr>
              </a:solidFill>
            </a:endParaRPr>
          </a:p>
        </p:txBody>
      </p:sp>
    </p:spTree>
    <p:extLst>
      <p:ext uri="{BB962C8B-B14F-4D97-AF65-F5344CB8AC3E}">
        <p14:creationId xmlns:p14="http://schemas.microsoft.com/office/powerpoint/2010/main" val="445626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7E9B-C6CB-4154-9014-E4E197BA3F4E}"/>
              </a:ext>
            </a:extLst>
          </p:cNvPr>
          <p:cNvSpPr>
            <a:spLocks noGrp="1"/>
          </p:cNvSpPr>
          <p:nvPr>
            <p:ph type="title"/>
          </p:nvPr>
        </p:nvSpPr>
        <p:spPr/>
        <p:txBody>
          <a:bodyPr/>
          <a:lstStyle/>
          <a:p>
            <a:r>
              <a:rPr lang="en-US" altLang="en-US" dirty="0"/>
              <a:t>How a Program Works </a:t>
            </a:r>
            <a:r>
              <a:rPr lang="en-US" altLang="en-US" sz="2000" b="0" dirty="0"/>
              <a:t>(2 of 4)</a:t>
            </a:r>
            <a:endParaRPr lang="en-US" sz="2000" b="0" dirty="0"/>
          </a:p>
        </p:txBody>
      </p:sp>
      <p:sp>
        <p:nvSpPr>
          <p:cNvPr id="3" name="Content Placeholder 2">
            <a:extLst>
              <a:ext uri="{FF2B5EF4-FFF2-40B4-BE49-F238E27FC236}">
                <a16:creationId xmlns:a16="http://schemas.microsoft.com/office/drawing/2014/main" id="{A4E795C4-C2E2-49AF-86A7-BF1DF7D54046}"/>
              </a:ext>
            </a:extLst>
          </p:cNvPr>
          <p:cNvSpPr>
            <a:spLocks noGrp="1"/>
          </p:cNvSpPr>
          <p:nvPr>
            <p:ph sz="quarter" idx="13"/>
          </p:nvPr>
        </p:nvSpPr>
        <p:spPr>
          <a:xfrm>
            <a:off x="457200" y="1556327"/>
            <a:ext cx="7831777" cy="3639128"/>
          </a:xfrm>
        </p:spPr>
        <p:txBody>
          <a:bodyPr/>
          <a:lstStyle/>
          <a:p>
            <a:r>
              <a:rPr lang="en-US" altLang="en-US" b="1" dirty="0"/>
              <a:t>Program must be copied from secondary memory to R</a:t>
            </a:r>
            <a:r>
              <a:rPr lang="en-US" altLang="en-US" sz="100" b="1" dirty="0"/>
              <a:t> </a:t>
            </a:r>
            <a:r>
              <a:rPr lang="en-US" altLang="en-US" b="1" dirty="0"/>
              <a:t>A</a:t>
            </a:r>
            <a:r>
              <a:rPr lang="en-US" altLang="en-US" sz="100" b="1" dirty="0"/>
              <a:t> </a:t>
            </a:r>
            <a:r>
              <a:rPr lang="en-US" altLang="en-US" b="1" dirty="0"/>
              <a:t>M each time C</a:t>
            </a:r>
            <a:r>
              <a:rPr lang="en-US" altLang="en-US" sz="100" b="1" dirty="0"/>
              <a:t> </a:t>
            </a:r>
            <a:r>
              <a:rPr lang="en-US" altLang="en-US" b="1" dirty="0"/>
              <a:t>P</a:t>
            </a:r>
            <a:r>
              <a:rPr lang="en-US" altLang="en-US" sz="100" b="1" dirty="0"/>
              <a:t> </a:t>
            </a:r>
            <a:r>
              <a:rPr lang="en-US" altLang="en-US" b="1" dirty="0"/>
              <a:t>U executes it</a:t>
            </a:r>
          </a:p>
          <a:p>
            <a:r>
              <a:rPr lang="en-US" altLang="en-US" b="1" dirty="0"/>
              <a:t>C</a:t>
            </a:r>
            <a:r>
              <a:rPr lang="en-US" altLang="en-US" sz="100" b="1" dirty="0"/>
              <a:t> </a:t>
            </a:r>
            <a:r>
              <a:rPr lang="en-US" altLang="en-US" b="1" dirty="0"/>
              <a:t>P</a:t>
            </a:r>
            <a:r>
              <a:rPr lang="en-US" altLang="en-US" sz="100" b="1" dirty="0"/>
              <a:t> </a:t>
            </a:r>
            <a:r>
              <a:rPr lang="en-US" altLang="en-US" b="1" dirty="0"/>
              <a:t>U executes program in cycle:</a:t>
            </a:r>
          </a:p>
          <a:p>
            <a:pPr lvl="1"/>
            <a:r>
              <a:rPr lang="en-US" altLang="en-US" dirty="0"/>
              <a:t>Fetch: read the next instruction from memory into C</a:t>
            </a:r>
            <a:r>
              <a:rPr lang="en-US" altLang="en-US" sz="100" dirty="0"/>
              <a:t> </a:t>
            </a:r>
            <a:r>
              <a:rPr lang="en-US" altLang="en-US" dirty="0"/>
              <a:t>P</a:t>
            </a:r>
            <a:r>
              <a:rPr lang="en-US" altLang="en-US" sz="100" dirty="0"/>
              <a:t> </a:t>
            </a:r>
            <a:r>
              <a:rPr lang="en-US" altLang="en-US" dirty="0"/>
              <a:t>U</a:t>
            </a:r>
          </a:p>
          <a:p>
            <a:pPr lvl="1"/>
            <a:r>
              <a:rPr lang="en-US" altLang="en-US" dirty="0"/>
              <a:t>Decode: C</a:t>
            </a:r>
            <a:r>
              <a:rPr lang="en-US" altLang="en-US" sz="100" dirty="0"/>
              <a:t> </a:t>
            </a:r>
            <a:r>
              <a:rPr lang="en-US" altLang="en-US" dirty="0"/>
              <a:t>P</a:t>
            </a:r>
            <a:r>
              <a:rPr lang="en-US" altLang="en-US" sz="100" dirty="0"/>
              <a:t> </a:t>
            </a:r>
            <a:r>
              <a:rPr lang="en-US" altLang="en-US" dirty="0"/>
              <a:t>U decodes fetched instruction to determine which operation to perform</a:t>
            </a:r>
          </a:p>
          <a:p>
            <a:pPr lvl="1"/>
            <a:r>
              <a:rPr lang="en-US" altLang="en-US" dirty="0"/>
              <a:t>Execute: perform the operation</a:t>
            </a:r>
            <a:endParaRPr lang="en-US" dirty="0"/>
          </a:p>
        </p:txBody>
      </p:sp>
    </p:spTree>
    <p:extLst>
      <p:ext uri="{BB962C8B-B14F-4D97-AF65-F5344CB8AC3E}">
        <p14:creationId xmlns:p14="http://schemas.microsoft.com/office/powerpoint/2010/main" val="3712493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B3C5B-36BF-715E-9A2C-DB9C00EDA9A8}"/>
              </a:ext>
            </a:extLst>
          </p:cNvPr>
          <p:cNvSpPr>
            <a:spLocks noGrp="1"/>
          </p:cNvSpPr>
          <p:nvPr>
            <p:ph type="title"/>
          </p:nvPr>
        </p:nvSpPr>
        <p:spPr/>
        <p:txBody>
          <a:bodyPr/>
          <a:lstStyle/>
          <a:p>
            <a:r>
              <a:rPr lang="en-US" dirty="0"/>
              <a:t>What happens when run a program? (</a:t>
            </a:r>
            <a:r>
              <a:rPr lang="en-US" sz="2000" b="0" dirty="0"/>
              <a:t>3 of 4</a:t>
            </a:r>
            <a:r>
              <a:rPr lang="en-US" dirty="0"/>
              <a:t>)</a:t>
            </a:r>
          </a:p>
        </p:txBody>
      </p:sp>
      <p:pic>
        <p:nvPicPr>
          <p:cNvPr id="4" name="Content Placeholder 3">
            <a:extLst>
              <a:ext uri="{FF2B5EF4-FFF2-40B4-BE49-F238E27FC236}">
                <a16:creationId xmlns:a16="http://schemas.microsoft.com/office/drawing/2014/main" id="{4DDCE90A-2705-DDFB-DDE8-4EBFE9864271}"/>
              </a:ext>
            </a:extLst>
          </p:cNvPr>
          <p:cNvPicPr>
            <a:picLocks noGrp="1" noChangeAspect="1"/>
          </p:cNvPicPr>
          <p:nvPr>
            <p:ph sz="quarter" idx="13"/>
          </p:nvPr>
        </p:nvPicPr>
        <p:blipFill>
          <a:blip r:embed="rId2"/>
          <a:stretch>
            <a:fillRect/>
          </a:stretch>
        </p:blipFill>
        <p:spPr>
          <a:xfrm>
            <a:off x="2476483" y="1555750"/>
            <a:ext cx="4191033" cy="4587875"/>
          </a:xfrm>
          <a:prstGeom prst="rect">
            <a:avLst/>
          </a:prstGeom>
        </p:spPr>
      </p:pic>
      <p:sp>
        <p:nvSpPr>
          <p:cNvPr id="5" name="TextBox 4">
            <a:extLst>
              <a:ext uri="{FF2B5EF4-FFF2-40B4-BE49-F238E27FC236}">
                <a16:creationId xmlns:a16="http://schemas.microsoft.com/office/drawing/2014/main" id="{23F3E502-C647-C70A-AE1C-54E20C3DE243}"/>
              </a:ext>
            </a:extLst>
          </p:cNvPr>
          <p:cNvSpPr txBox="1"/>
          <p:nvPr/>
        </p:nvSpPr>
        <p:spPr>
          <a:xfrm>
            <a:off x="6133310" y="2266559"/>
            <a:ext cx="1527982" cy="738664"/>
          </a:xfrm>
          <a:prstGeom prst="rect">
            <a:avLst/>
          </a:prstGeom>
          <a:noFill/>
        </p:spPr>
        <p:txBody>
          <a:bodyPr wrap="none" rtlCol="0">
            <a:spAutoFit/>
          </a:bodyPr>
          <a:lstStyle/>
          <a:p>
            <a:r>
              <a:rPr lang="en-US" dirty="0">
                <a:solidFill>
                  <a:schemeClr val="accent5">
                    <a:lumMod val="75000"/>
                  </a:schemeClr>
                </a:solidFill>
              </a:rPr>
              <a:t>Executable: </a:t>
            </a:r>
          </a:p>
          <a:p>
            <a:r>
              <a:rPr lang="en-US" dirty="0">
                <a:solidFill>
                  <a:schemeClr val="accent5">
                    <a:lumMod val="75000"/>
                  </a:schemeClr>
                </a:solidFill>
              </a:rPr>
              <a:t>Binary (machine </a:t>
            </a:r>
          </a:p>
          <a:p>
            <a:r>
              <a:rPr lang="en-US" dirty="0">
                <a:solidFill>
                  <a:schemeClr val="accent5">
                    <a:lumMod val="75000"/>
                  </a:schemeClr>
                </a:solidFill>
              </a:rPr>
              <a:t>language</a:t>
            </a:r>
          </a:p>
        </p:txBody>
      </p:sp>
    </p:spTree>
    <p:extLst>
      <p:ext uri="{BB962C8B-B14F-4D97-AF65-F5344CB8AC3E}">
        <p14:creationId xmlns:p14="http://schemas.microsoft.com/office/powerpoint/2010/main" val="2138879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3B73-1BA0-4C66-A59F-A46618878248}"/>
              </a:ext>
            </a:extLst>
          </p:cNvPr>
          <p:cNvSpPr>
            <a:spLocks noGrp="1"/>
          </p:cNvSpPr>
          <p:nvPr>
            <p:ph type="title"/>
          </p:nvPr>
        </p:nvSpPr>
        <p:spPr/>
        <p:txBody>
          <a:bodyPr/>
          <a:lstStyle/>
          <a:p>
            <a:r>
              <a:rPr lang="en-US" altLang="en-US" dirty="0"/>
              <a:t>How a Program Works </a:t>
            </a:r>
            <a:r>
              <a:rPr lang="en-US" altLang="en-US" sz="2000" b="0" dirty="0"/>
              <a:t>(4 of 4)</a:t>
            </a:r>
            <a:endParaRPr lang="en-US" sz="2000" dirty="0"/>
          </a:p>
        </p:txBody>
      </p:sp>
      <p:pic>
        <p:nvPicPr>
          <p:cNvPr id="7" name="Content Placeholder 6" descr="An illustration depicts the steps in the fetch, decode, and execute cycle. For long description in Notes pane, press F6.">
            <a:extLst>
              <a:ext uri="{FF2B5EF4-FFF2-40B4-BE49-F238E27FC236}">
                <a16:creationId xmlns:a16="http://schemas.microsoft.com/office/drawing/2014/main" id="{35462320-E0FF-45F9-B834-471E4E1339CC}"/>
              </a:ext>
            </a:extLst>
          </p:cNvPr>
          <p:cNvPicPr>
            <a:picLocks noGrp="1" noChangeAspect="1"/>
          </p:cNvPicPr>
          <p:nvPr>
            <p:ph sz="quarter" idx="13"/>
          </p:nvPr>
        </p:nvPicPr>
        <p:blipFill>
          <a:blip r:embed="rId3"/>
          <a:stretch>
            <a:fillRect/>
          </a:stretch>
        </p:blipFill>
        <p:spPr>
          <a:xfrm>
            <a:off x="878362" y="1627229"/>
            <a:ext cx="7387275" cy="3995523"/>
          </a:xfrm>
        </p:spPr>
      </p:pic>
      <p:sp>
        <p:nvSpPr>
          <p:cNvPr id="5" name="Content Placeholder 4">
            <a:extLst>
              <a:ext uri="{FF2B5EF4-FFF2-40B4-BE49-F238E27FC236}">
                <a16:creationId xmlns:a16="http://schemas.microsoft.com/office/drawing/2014/main" id="{EA56444C-AFFB-4EF3-8203-21A2001C1E3E}"/>
              </a:ext>
            </a:extLst>
          </p:cNvPr>
          <p:cNvSpPr>
            <a:spLocks noGrp="1"/>
          </p:cNvSpPr>
          <p:nvPr>
            <p:ph sz="quarter" idx="14"/>
          </p:nvPr>
        </p:nvSpPr>
        <p:spPr>
          <a:xfrm>
            <a:off x="457200" y="5771408"/>
            <a:ext cx="8229600" cy="438274"/>
          </a:xfrm>
        </p:spPr>
        <p:txBody>
          <a:bodyPr/>
          <a:lstStyle/>
          <a:p>
            <a:pPr marL="432" indent="0">
              <a:buNone/>
            </a:pPr>
            <a:r>
              <a:rPr lang="en-US" altLang="en-US" sz="1600" b="1" dirty="0"/>
              <a:t>Figure 1-16</a:t>
            </a:r>
            <a:r>
              <a:rPr lang="en-US" altLang="en-US" sz="1600" dirty="0"/>
              <a:t> The fetch-decode-execute cycle</a:t>
            </a:r>
            <a:endParaRPr lang="en-US" sz="1600" dirty="0"/>
          </a:p>
        </p:txBody>
      </p:sp>
    </p:spTree>
    <p:extLst>
      <p:ext uri="{BB962C8B-B14F-4D97-AF65-F5344CB8AC3E}">
        <p14:creationId xmlns:p14="http://schemas.microsoft.com/office/powerpoint/2010/main" val="3129698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8AB47-A365-4613-8089-D367CE41BD9A}"/>
              </a:ext>
            </a:extLst>
          </p:cNvPr>
          <p:cNvSpPr>
            <a:spLocks noGrp="1"/>
          </p:cNvSpPr>
          <p:nvPr>
            <p:ph type="title"/>
          </p:nvPr>
        </p:nvSpPr>
        <p:spPr/>
        <p:txBody>
          <a:bodyPr/>
          <a:lstStyle/>
          <a:p>
            <a:r>
              <a:rPr lang="en-US" altLang="en-US" sz="3200" dirty="0"/>
              <a:t>From Machine Language to Assembly Language</a:t>
            </a:r>
            <a:endParaRPr lang="en-US" sz="3200" dirty="0"/>
          </a:p>
        </p:txBody>
      </p:sp>
      <p:sp>
        <p:nvSpPr>
          <p:cNvPr id="3" name="Content Placeholder 2">
            <a:extLst>
              <a:ext uri="{FF2B5EF4-FFF2-40B4-BE49-F238E27FC236}">
                <a16:creationId xmlns:a16="http://schemas.microsoft.com/office/drawing/2014/main" id="{84926797-B549-4D47-B63E-2D40705A2502}"/>
              </a:ext>
            </a:extLst>
          </p:cNvPr>
          <p:cNvSpPr>
            <a:spLocks noGrp="1"/>
          </p:cNvSpPr>
          <p:nvPr>
            <p:ph sz="quarter" idx="13"/>
          </p:nvPr>
        </p:nvSpPr>
        <p:spPr>
          <a:xfrm>
            <a:off x="457200" y="1556327"/>
            <a:ext cx="8116784" cy="3112655"/>
          </a:xfrm>
        </p:spPr>
        <p:txBody>
          <a:bodyPr/>
          <a:lstStyle/>
          <a:p>
            <a:r>
              <a:rPr lang="en-US" altLang="en-US" b="1" dirty="0"/>
              <a:t>Impractical for people to write in machine language</a:t>
            </a:r>
          </a:p>
          <a:p>
            <a:r>
              <a:rPr lang="en-US" altLang="en-US" b="1" dirty="0"/>
              <a:t>Assembly language: uses short words (</a:t>
            </a:r>
            <a:r>
              <a:rPr lang="en-US" altLang="en-US" b="1" u="sng" dirty="0"/>
              <a:t>mnemonics</a:t>
            </a:r>
            <a:r>
              <a:rPr lang="en-US" altLang="en-US" b="1" dirty="0"/>
              <a:t>) for instructions instead of binary numbers</a:t>
            </a:r>
          </a:p>
          <a:p>
            <a:pPr lvl="1"/>
            <a:r>
              <a:rPr lang="en-US" altLang="en-US" dirty="0"/>
              <a:t>Easier for programmers to work with</a:t>
            </a:r>
          </a:p>
          <a:p>
            <a:r>
              <a:rPr lang="en-US" altLang="en-US" b="1" dirty="0"/>
              <a:t>Assembler: translates assembly language to machine language for execution by C</a:t>
            </a:r>
            <a:r>
              <a:rPr lang="en-US" altLang="en-US" sz="100" b="1" dirty="0"/>
              <a:t> </a:t>
            </a:r>
            <a:r>
              <a:rPr lang="en-US" altLang="en-US" b="1" dirty="0"/>
              <a:t>P</a:t>
            </a:r>
            <a:r>
              <a:rPr lang="en-US" altLang="en-US" sz="100" b="1" dirty="0"/>
              <a:t> </a:t>
            </a:r>
            <a:r>
              <a:rPr lang="en-US" altLang="en-US" b="1" dirty="0"/>
              <a:t>U</a:t>
            </a:r>
            <a:endParaRPr lang="en-US" b="1" dirty="0"/>
          </a:p>
        </p:txBody>
      </p:sp>
      <p:pic>
        <p:nvPicPr>
          <p:cNvPr id="5" name="Picture 4">
            <a:extLst>
              <a:ext uri="{FF2B5EF4-FFF2-40B4-BE49-F238E27FC236}">
                <a16:creationId xmlns:a16="http://schemas.microsoft.com/office/drawing/2014/main" id="{29A2E3C9-1F39-D5FD-E775-D6F21128BFF1}"/>
              </a:ext>
            </a:extLst>
          </p:cNvPr>
          <p:cNvPicPr>
            <a:picLocks noChangeAspect="1"/>
          </p:cNvPicPr>
          <p:nvPr/>
        </p:nvPicPr>
        <p:blipFill>
          <a:blip r:embed="rId3"/>
          <a:stretch>
            <a:fillRect/>
          </a:stretch>
        </p:blipFill>
        <p:spPr>
          <a:xfrm>
            <a:off x="2863312" y="4319871"/>
            <a:ext cx="5823488" cy="2322758"/>
          </a:xfrm>
          <a:prstGeom prst="rect">
            <a:avLst/>
          </a:prstGeom>
        </p:spPr>
      </p:pic>
    </p:spTree>
    <p:extLst>
      <p:ext uri="{BB962C8B-B14F-4D97-AF65-F5344CB8AC3E}">
        <p14:creationId xmlns:p14="http://schemas.microsoft.com/office/powerpoint/2010/main" val="2077885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a:t>High-Level Languages</a:t>
            </a:r>
            <a:endParaRPr lang="en-US"/>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7"/>
            <a:ext cx="8229600" cy="3569855"/>
          </a:xfrm>
        </p:spPr>
        <p:txBody>
          <a:bodyPr/>
          <a:lstStyle/>
          <a:p>
            <a:r>
              <a:rPr lang="en-US" altLang="en-US" b="1" dirty="0"/>
              <a:t>Low-level language: close in nature to machine language</a:t>
            </a:r>
          </a:p>
          <a:p>
            <a:pPr lvl="1"/>
            <a:r>
              <a:rPr lang="en-US" altLang="en-US" dirty="0"/>
              <a:t>Example: assembly language</a:t>
            </a:r>
          </a:p>
          <a:p>
            <a:r>
              <a:rPr lang="en-US" altLang="en-US" b="1" dirty="0"/>
              <a:t>High-Level language: allows simple creation of powerful and complex programs </a:t>
            </a:r>
          </a:p>
          <a:p>
            <a:pPr lvl="1"/>
            <a:r>
              <a:rPr lang="en-US" altLang="en-US" dirty="0"/>
              <a:t>No need to know how C</a:t>
            </a:r>
            <a:r>
              <a:rPr lang="en-US" altLang="en-US" sz="100" dirty="0"/>
              <a:t> </a:t>
            </a:r>
            <a:r>
              <a:rPr lang="en-US" altLang="en-US" dirty="0"/>
              <a:t>P</a:t>
            </a:r>
            <a:r>
              <a:rPr lang="en-US" altLang="en-US" sz="100" dirty="0"/>
              <a:t> </a:t>
            </a:r>
            <a:r>
              <a:rPr lang="en-US" altLang="en-US" dirty="0"/>
              <a:t>U works or write large number of instructions</a:t>
            </a:r>
          </a:p>
          <a:p>
            <a:pPr lvl="1"/>
            <a:r>
              <a:rPr lang="en-US" altLang="en-US" dirty="0"/>
              <a:t>More intuitive to understand</a:t>
            </a:r>
            <a:endParaRPr lang="en-US" dirty="0"/>
          </a:p>
        </p:txBody>
      </p:sp>
      <p:sp>
        <p:nvSpPr>
          <p:cNvPr id="4" name="TextBox 3">
            <a:extLst>
              <a:ext uri="{FF2B5EF4-FFF2-40B4-BE49-F238E27FC236}">
                <a16:creationId xmlns:a16="http://schemas.microsoft.com/office/drawing/2014/main" id="{7BEF1584-4088-AA3E-44FE-78FC8D2AE23F}"/>
              </a:ext>
            </a:extLst>
          </p:cNvPr>
          <p:cNvSpPr txBox="1"/>
          <p:nvPr/>
        </p:nvSpPr>
        <p:spPr>
          <a:xfrm>
            <a:off x="6059837" y="3429000"/>
            <a:ext cx="2165978" cy="307777"/>
          </a:xfrm>
          <a:prstGeom prst="rect">
            <a:avLst/>
          </a:prstGeom>
          <a:noFill/>
        </p:spPr>
        <p:txBody>
          <a:bodyPr wrap="none" rtlCol="0">
            <a:spAutoFit/>
          </a:bodyPr>
          <a:lstStyle/>
          <a:p>
            <a:r>
              <a:rPr lang="en-US" dirty="0">
                <a:solidFill>
                  <a:schemeClr val="accent5">
                    <a:lumMod val="75000"/>
                  </a:schemeClr>
                </a:solidFill>
              </a:rPr>
              <a:t>Python, java, C#, C++, C</a:t>
            </a:r>
          </a:p>
        </p:txBody>
      </p:sp>
    </p:spTree>
    <p:extLst>
      <p:ext uri="{BB962C8B-B14F-4D97-AF65-F5344CB8AC3E}">
        <p14:creationId xmlns:p14="http://schemas.microsoft.com/office/powerpoint/2010/main" val="4226314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sz="3200" dirty="0"/>
              <a:t>Keywords, Operators, and Syntax: An Overview</a:t>
            </a:r>
            <a:endParaRPr lang="en-US" sz="3200" dirty="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7"/>
            <a:ext cx="8538080" cy="4287882"/>
          </a:xfrm>
        </p:spPr>
        <p:txBody>
          <a:bodyPr/>
          <a:lstStyle/>
          <a:p>
            <a:r>
              <a:rPr lang="en-US" altLang="en-US" b="1" dirty="0"/>
              <a:t>Keywords: predefined words used to write program in high-level language</a:t>
            </a:r>
          </a:p>
          <a:p>
            <a:pPr lvl="1"/>
            <a:r>
              <a:rPr lang="en-US" altLang="en-US" dirty="0"/>
              <a:t>Each keyword has specific meaning</a:t>
            </a:r>
          </a:p>
          <a:p>
            <a:r>
              <a:rPr lang="en-US" altLang="en-US" b="1" dirty="0"/>
              <a:t>Operators: perform operations on data</a:t>
            </a:r>
          </a:p>
          <a:p>
            <a:pPr lvl="1"/>
            <a:r>
              <a:rPr lang="en-US" altLang="en-US" dirty="0"/>
              <a:t>Example: math operators to perform arithmetic</a:t>
            </a:r>
          </a:p>
          <a:p>
            <a:r>
              <a:rPr lang="en-US" altLang="en-US" b="1" dirty="0"/>
              <a:t>Syntax: set of rules to be followed when writing program </a:t>
            </a:r>
            <a:r>
              <a:rPr lang="en-US" altLang="en-US" sz="1400" b="1" dirty="0">
                <a:solidFill>
                  <a:schemeClr val="accent5">
                    <a:lumMod val="75000"/>
                  </a:schemeClr>
                </a:solidFill>
              </a:rPr>
              <a:t>indentation, colon, opening parenthesis and closing parenthesis, quote</a:t>
            </a:r>
            <a:endParaRPr lang="en-US" altLang="en-US" b="1" dirty="0"/>
          </a:p>
          <a:p>
            <a:r>
              <a:rPr lang="en-US" altLang="en-US" b="1" dirty="0"/>
              <a:t>Statement: individual instruction used in high-level language, consists of keywords, operator, punctuation, and other allowed programming elements.</a:t>
            </a:r>
            <a:r>
              <a:rPr lang="zh-CN" altLang="en-US" b="1" dirty="0"/>
              <a:t> </a:t>
            </a:r>
            <a:r>
              <a:rPr lang="en-US" altLang="zh-CN" sz="1400" b="1" dirty="0">
                <a:solidFill>
                  <a:schemeClr val="accent5">
                    <a:lumMod val="75000"/>
                  </a:schemeClr>
                </a:solidFill>
              </a:rPr>
              <a:t>Assignment</a:t>
            </a:r>
            <a:r>
              <a:rPr lang="zh-CN" altLang="en-US" sz="1400" b="1" dirty="0">
                <a:solidFill>
                  <a:schemeClr val="accent5">
                    <a:lumMod val="75000"/>
                  </a:schemeClr>
                </a:solidFill>
              </a:rPr>
              <a:t> </a:t>
            </a:r>
            <a:r>
              <a:rPr lang="en-US" altLang="zh-CN" sz="1400" b="1" dirty="0">
                <a:solidFill>
                  <a:schemeClr val="accent5">
                    <a:lumMod val="75000"/>
                  </a:schemeClr>
                </a:solidFill>
              </a:rPr>
              <a:t>statement,</a:t>
            </a:r>
            <a:r>
              <a:rPr lang="zh-CN" altLang="en-US" sz="1400" b="1" dirty="0">
                <a:solidFill>
                  <a:schemeClr val="accent5">
                    <a:lumMod val="75000"/>
                  </a:schemeClr>
                </a:solidFill>
              </a:rPr>
              <a:t> </a:t>
            </a:r>
            <a:r>
              <a:rPr lang="en-US" altLang="zh-CN" sz="1400" b="1" dirty="0">
                <a:solidFill>
                  <a:schemeClr val="accent5">
                    <a:lumMod val="75000"/>
                  </a:schemeClr>
                </a:solidFill>
              </a:rPr>
              <a:t>calculation</a:t>
            </a:r>
            <a:r>
              <a:rPr lang="zh-CN" altLang="en-US" sz="1400" b="1" dirty="0">
                <a:solidFill>
                  <a:schemeClr val="accent5">
                    <a:lumMod val="75000"/>
                  </a:schemeClr>
                </a:solidFill>
              </a:rPr>
              <a:t> </a:t>
            </a:r>
            <a:r>
              <a:rPr lang="en-US" altLang="zh-CN" sz="1400" b="1" dirty="0">
                <a:solidFill>
                  <a:schemeClr val="accent5">
                    <a:lumMod val="75000"/>
                  </a:schemeClr>
                </a:solidFill>
              </a:rPr>
              <a:t>statement,</a:t>
            </a:r>
            <a:r>
              <a:rPr lang="zh-CN" altLang="en-US" sz="1400" b="1" dirty="0">
                <a:solidFill>
                  <a:schemeClr val="accent5">
                    <a:lumMod val="75000"/>
                  </a:schemeClr>
                </a:solidFill>
              </a:rPr>
              <a:t> </a:t>
            </a:r>
            <a:r>
              <a:rPr lang="en-US" altLang="zh-CN" sz="1400" b="1" dirty="0">
                <a:solidFill>
                  <a:schemeClr val="accent5">
                    <a:lumMod val="75000"/>
                  </a:schemeClr>
                </a:solidFill>
              </a:rPr>
              <a:t>condition</a:t>
            </a:r>
            <a:r>
              <a:rPr lang="zh-CN" altLang="en-US" sz="1400" b="1" dirty="0">
                <a:solidFill>
                  <a:schemeClr val="accent5">
                    <a:lumMod val="75000"/>
                  </a:schemeClr>
                </a:solidFill>
              </a:rPr>
              <a:t> </a:t>
            </a:r>
            <a:r>
              <a:rPr lang="en-US" altLang="zh-CN" sz="1400" b="1" dirty="0">
                <a:solidFill>
                  <a:schemeClr val="accent5">
                    <a:lumMod val="75000"/>
                  </a:schemeClr>
                </a:solidFill>
              </a:rPr>
              <a:t>check</a:t>
            </a:r>
            <a:r>
              <a:rPr lang="zh-CN" altLang="en-US" sz="1400" b="1" dirty="0">
                <a:solidFill>
                  <a:schemeClr val="accent5">
                    <a:lumMod val="75000"/>
                  </a:schemeClr>
                </a:solidFill>
              </a:rPr>
              <a:t> </a:t>
            </a:r>
            <a:r>
              <a:rPr lang="en-US" altLang="zh-CN" sz="1400" b="1" dirty="0">
                <a:solidFill>
                  <a:schemeClr val="accent5">
                    <a:lumMod val="75000"/>
                  </a:schemeClr>
                </a:solidFill>
              </a:rPr>
              <a:t>statement,</a:t>
            </a:r>
            <a:r>
              <a:rPr lang="zh-CN" altLang="en-US" sz="1400" b="1" dirty="0">
                <a:solidFill>
                  <a:schemeClr val="accent5">
                    <a:lumMod val="75000"/>
                  </a:schemeClr>
                </a:solidFill>
              </a:rPr>
              <a:t> </a:t>
            </a:r>
            <a:r>
              <a:rPr lang="en-US" altLang="zh-CN" sz="1400" b="1" dirty="0">
                <a:solidFill>
                  <a:schemeClr val="accent5">
                    <a:lumMod val="75000"/>
                  </a:schemeClr>
                </a:solidFill>
              </a:rPr>
              <a:t>repetition</a:t>
            </a:r>
            <a:r>
              <a:rPr lang="zh-CN" altLang="en-US" sz="1400" b="1" dirty="0">
                <a:solidFill>
                  <a:schemeClr val="accent5">
                    <a:lumMod val="75000"/>
                  </a:schemeClr>
                </a:solidFill>
              </a:rPr>
              <a:t> </a:t>
            </a:r>
            <a:r>
              <a:rPr lang="en-US" altLang="zh-CN" sz="1400" b="1" dirty="0">
                <a:solidFill>
                  <a:schemeClr val="accent5">
                    <a:lumMod val="75000"/>
                  </a:schemeClr>
                </a:solidFill>
              </a:rPr>
              <a:t>statement</a:t>
            </a:r>
            <a:r>
              <a:rPr lang="zh-CN" altLang="en-US" sz="1400" b="1" dirty="0">
                <a:solidFill>
                  <a:schemeClr val="accent5">
                    <a:lumMod val="75000"/>
                  </a:schemeClr>
                </a:solidFill>
              </a:rPr>
              <a:t> </a:t>
            </a:r>
            <a:r>
              <a:rPr lang="en-US" altLang="zh-CN" sz="1400" b="1" dirty="0">
                <a:solidFill>
                  <a:schemeClr val="accent5">
                    <a:lumMod val="75000"/>
                  </a:schemeClr>
                </a:solidFill>
              </a:rPr>
              <a:t>…</a:t>
            </a:r>
            <a:endParaRPr lang="en-US" b="1" dirty="0"/>
          </a:p>
        </p:txBody>
      </p:sp>
      <p:sp>
        <p:nvSpPr>
          <p:cNvPr id="4" name="TextBox 3">
            <a:extLst>
              <a:ext uri="{FF2B5EF4-FFF2-40B4-BE49-F238E27FC236}">
                <a16:creationId xmlns:a16="http://schemas.microsoft.com/office/drawing/2014/main" id="{4085277E-C781-1F9A-43EA-5C4D4F13464B}"/>
              </a:ext>
            </a:extLst>
          </p:cNvPr>
          <p:cNvSpPr txBox="1"/>
          <p:nvPr/>
        </p:nvSpPr>
        <p:spPr>
          <a:xfrm>
            <a:off x="6834752" y="2138766"/>
            <a:ext cx="1468672" cy="954107"/>
          </a:xfrm>
          <a:prstGeom prst="rect">
            <a:avLst/>
          </a:prstGeom>
          <a:noFill/>
        </p:spPr>
        <p:txBody>
          <a:bodyPr wrap="none" rtlCol="0">
            <a:spAutoFit/>
          </a:bodyPr>
          <a:lstStyle/>
          <a:p>
            <a:r>
              <a:rPr lang="en-US" dirty="0">
                <a:solidFill>
                  <a:schemeClr val="accent5">
                    <a:lumMod val="75000"/>
                  </a:schemeClr>
                </a:solidFill>
              </a:rPr>
              <a:t>import, </a:t>
            </a:r>
          </a:p>
          <a:p>
            <a:r>
              <a:rPr lang="en-US" dirty="0">
                <a:solidFill>
                  <a:schemeClr val="accent5">
                    <a:lumMod val="75000"/>
                  </a:schemeClr>
                </a:solidFill>
              </a:rPr>
              <a:t>if, </a:t>
            </a:r>
            <a:r>
              <a:rPr lang="en-US" dirty="0" err="1">
                <a:solidFill>
                  <a:schemeClr val="accent5">
                    <a:lumMod val="75000"/>
                  </a:schemeClr>
                </a:solidFill>
              </a:rPr>
              <a:t>elif</a:t>
            </a:r>
            <a:r>
              <a:rPr lang="en-US" dirty="0">
                <a:solidFill>
                  <a:schemeClr val="accent5">
                    <a:lumMod val="75000"/>
                  </a:schemeClr>
                </a:solidFill>
              </a:rPr>
              <a:t>, else</a:t>
            </a:r>
          </a:p>
          <a:p>
            <a:r>
              <a:rPr lang="en-US" dirty="0">
                <a:solidFill>
                  <a:schemeClr val="accent5">
                    <a:lumMod val="75000"/>
                  </a:schemeClr>
                </a:solidFill>
              </a:rPr>
              <a:t>for, while, break</a:t>
            </a:r>
          </a:p>
          <a:p>
            <a:r>
              <a:rPr lang="en-US" dirty="0">
                <a:solidFill>
                  <a:schemeClr val="accent5">
                    <a:lumMod val="75000"/>
                  </a:schemeClr>
                </a:solidFill>
              </a:rPr>
              <a:t>try/except/finally</a:t>
            </a:r>
          </a:p>
        </p:txBody>
      </p:sp>
      <p:sp>
        <p:nvSpPr>
          <p:cNvPr id="5" name="TextBox 4">
            <a:extLst>
              <a:ext uri="{FF2B5EF4-FFF2-40B4-BE49-F238E27FC236}">
                <a16:creationId xmlns:a16="http://schemas.microsoft.com/office/drawing/2014/main" id="{6D4E6C5D-3A7E-14BE-57B1-0490B04864CE}"/>
              </a:ext>
            </a:extLst>
          </p:cNvPr>
          <p:cNvSpPr txBox="1"/>
          <p:nvPr/>
        </p:nvSpPr>
        <p:spPr>
          <a:xfrm>
            <a:off x="7611568" y="3457351"/>
            <a:ext cx="1383712" cy="307777"/>
          </a:xfrm>
          <a:prstGeom prst="rect">
            <a:avLst/>
          </a:prstGeom>
          <a:noFill/>
        </p:spPr>
        <p:txBody>
          <a:bodyPr wrap="none" rtlCol="0">
            <a:spAutoFit/>
          </a:bodyPr>
          <a:lstStyle/>
          <a:p>
            <a:r>
              <a:rPr lang="en-US" dirty="0">
                <a:solidFill>
                  <a:schemeClr val="accent5">
                    <a:lumMod val="75000"/>
                  </a:schemeClr>
                </a:solidFill>
              </a:rPr>
              <a:t>+,-,*,/, //, %, +=</a:t>
            </a:r>
          </a:p>
        </p:txBody>
      </p:sp>
    </p:spTree>
    <p:extLst>
      <p:ext uri="{BB962C8B-B14F-4D97-AF65-F5344CB8AC3E}">
        <p14:creationId xmlns:p14="http://schemas.microsoft.com/office/powerpoint/2010/main" val="1829640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a:xfrm>
            <a:off x="457200" y="215371"/>
            <a:ext cx="8229600" cy="1097279"/>
          </a:xfrm>
        </p:spPr>
        <p:txBody>
          <a:bodyPr anchor="b">
            <a:normAutofit/>
          </a:bodyPr>
          <a:lstStyle/>
          <a:p>
            <a:r>
              <a:rPr lang="en-US" altLang="en-US" dirty="0"/>
              <a:t>Compilers and Interpreters </a:t>
            </a:r>
            <a:r>
              <a:rPr lang="en-US" altLang="en-US" sz="2000" b="0" dirty="0"/>
              <a:t>(1 of 4)</a:t>
            </a:r>
            <a:endParaRPr lang="en-US" sz="2000" b="0" dirty="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399081" y="1706463"/>
            <a:ext cx="8345838" cy="2575984"/>
          </a:xfrm>
        </p:spPr>
        <p:txBody>
          <a:bodyPr anchor="t">
            <a:normAutofit/>
          </a:bodyPr>
          <a:lstStyle/>
          <a:p>
            <a:r>
              <a:rPr lang="en-US" altLang="en-US" b="1" dirty="0"/>
              <a:t>Programs written in high-level languages must be translated into machine language to be executed</a:t>
            </a:r>
          </a:p>
          <a:p>
            <a:r>
              <a:rPr lang="en-US" altLang="en-US" b="1" u="sng" dirty="0"/>
              <a:t>Compiler</a:t>
            </a:r>
            <a:r>
              <a:rPr lang="en-US" altLang="en-US" b="1" dirty="0"/>
              <a:t>: translates high-level language program into separate machine language program</a:t>
            </a:r>
          </a:p>
          <a:p>
            <a:pPr marL="432" indent="0">
              <a:buNone/>
            </a:pPr>
            <a:r>
              <a:rPr lang="en-US" altLang="en-US" dirty="0"/>
              <a:t>   Machine language program can be executed at any time</a:t>
            </a:r>
            <a:endParaRPr lang="en-US" dirty="0"/>
          </a:p>
          <a:p>
            <a:pPr marL="432" indent="0">
              <a:buNone/>
            </a:pPr>
            <a:endParaRPr lang="en-US" altLang="en-US" sz="2200" b="1" dirty="0"/>
          </a:p>
          <a:p>
            <a:endParaRPr lang="en-US" altLang="en-US" sz="2200" b="1" dirty="0"/>
          </a:p>
        </p:txBody>
      </p:sp>
      <p:sp>
        <p:nvSpPr>
          <p:cNvPr id="7" name="TextBox 6">
            <a:extLst>
              <a:ext uri="{FF2B5EF4-FFF2-40B4-BE49-F238E27FC236}">
                <a16:creationId xmlns:a16="http://schemas.microsoft.com/office/drawing/2014/main" id="{4367D419-3CE0-29D6-B779-F06C1DE97DF0}"/>
              </a:ext>
            </a:extLst>
          </p:cNvPr>
          <p:cNvSpPr txBox="1"/>
          <p:nvPr/>
        </p:nvSpPr>
        <p:spPr>
          <a:xfrm>
            <a:off x="686000" y="4353094"/>
            <a:ext cx="7322838" cy="646331"/>
          </a:xfrm>
          <a:prstGeom prst="rect">
            <a:avLst/>
          </a:prstGeom>
          <a:noFill/>
        </p:spPr>
        <p:txBody>
          <a:bodyPr wrap="none" rtlCol="0">
            <a:spAutoFit/>
          </a:bodyPr>
          <a:lstStyle/>
          <a:p>
            <a:r>
              <a:rPr lang="en-US" sz="1800" dirty="0" err="1">
                <a:solidFill>
                  <a:schemeClr val="accent5">
                    <a:lumMod val="75000"/>
                  </a:schemeClr>
                </a:solidFill>
              </a:rPr>
              <a:t>gcc</a:t>
            </a:r>
            <a:r>
              <a:rPr lang="en-US" sz="1800" dirty="0">
                <a:solidFill>
                  <a:schemeClr val="accent5">
                    <a:lumMod val="75000"/>
                  </a:schemeClr>
                </a:solidFill>
              </a:rPr>
              <a:t> – compile a C program</a:t>
            </a:r>
            <a:r>
              <a:rPr lang="en-US" altLang="zh-CN" sz="1800" dirty="0">
                <a:solidFill>
                  <a:schemeClr val="accent5">
                    <a:lumMod val="75000"/>
                  </a:schemeClr>
                </a:solidFill>
              </a:rPr>
              <a:t>:</a:t>
            </a:r>
            <a:r>
              <a:rPr lang="zh-CN" altLang="en-US" sz="1800" dirty="0">
                <a:solidFill>
                  <a:schemeClr val="accent5">
                    <a:lumMod val="75000"/>
                  </a:schemeClr>
                </a:solidFill>
              </a:rPr>
              <a:t> </a:t>
            </a:r>
            <a:r>
              <a:rPr lang="en-US" altLang="zh-CN" sz="1800" dirty="0" err="1">
                <a:solidFill>
                  <a:schemeClr val="accent5">
                    <a:lumMod val="75000"/>
                  </a:schemeClr>
                </a:solidFill>
              </a:rPr>
              <a:t>hello_world.c</a:t>
            </a:r>
            <a:r>
              <a:rPr lang="zh-CN" altLang="en-US" sz="1800" dirty="0">
                <a:solidFill>
                  <a:schemeClr val="accent5">
                    <a:lumMod val="75000"/>
                  </a:schemeClr>
                </a:solidFill>
              </a:rPr>
              <a:t> </a:t>
            </a:r>
            <a:r>
              <a:rPr lang="en-US" altLang="zh-CN" sz="1800" dirty="0">
                <a:solidFill>
                  <a:schemeClr val="accent5">
                    <a:lumMod val="75000"/>
                  </a:schemeClr>
                </a:solidFill>
                <a:sym typeface="Wingdings" pitchFamily="2" charset="2"/>
              </a:rPr>
              <a:t></a:t>
            </a:r>
            <a:r>
              <a:rPr lang="zh-CN" altLang="en-US" sz="1800" dirty="0">
                <a:solidFill>
                  <a:schemeClr val="accent5">
                    <a:lumMod val="75000"/>
                  </a:schemeClr>
                </a:solidFill>
                <a:sym typeface="Wingdings" pitchFamily="2" charset="2"/>
              </a:rPr>
              <a:t> </a:t>
            </a:r>
            <a:r>
              <a:rPr lang="en-US" altLang="zh-CN" sz="1800" dirty="0" err="1">
                <a:solidFill>
                  <a:schemeClr val="accent5">
                    <a:lumMod val="75000"/>
                  </a:schemeClr>
                </a:solidFill>
                <a:sym typeface="Wingdings" pitchFamily="2" charset="2"/>
              </a:rPr>
              <a:t>hello_world.o</a:t>
            </a:r>
            <a:endParaRPr lang="en-US" sz="1800" dirty="0">
              <a:solidFill>
                <a:schemeClr val="accent5">
                  <a:lumMod val="75000"/>
                </a:schemeClr>
              </a:solidFill>
            </a:endParaRPr>
          </a:p>
          <a:p>
            <a:r>
              <a:rPr lang="en-US" sz="1800" dirty="0">
                <a:solidFill>
                  <a:schemeClr val="accent5">
                    <a:lumMod val="75000"/>
                  </a:schemeClr>
                </a:solidFill>
              </a:rPr>
              <a:t>Javac – compile a Java program</a:t>
            </a:r>
            <a:r>
              <a:rPr lang="en-US" altLang="zh-CN" sz="1800" dirty="0">
                <a:solidFill>
                  <a:schemeClr val="accent5">
                    <a:lumMod val="75000"/>
                  </a:schemeClr>
                </a:solidFill>
              </a:rPr>
              <a:t>:</a:t>
            </a:r>
            <a:r>
              <a:rPr lang="zh-CN" altLang="en-US" sz="1800" dirty="0">
                <a:solidFill>
                  <a:schemeClr val="accent5">
                    <a:lumMod val="75000"/>
                  </a:schemeClr>
                </a:solidFill>
              </a:rPr>
              <a:t> </a:t>
            </a:r>
            <a:r>
              <a:rPr lang="en-US" altLang="zh-CN" sz="1800" dirty="0" err="1">
                <a:solidFill>
                  <a:schemeClr val="accent5">
                    <a:lumMod val="75000"/>
                  </a:schemeClr>
                </a:solidFill>
              </a:rPr>
              <a:t>HelloWorld.java</a:t>
            </a:r>
            <a:r>
              <a:rPr lang="zh-CN" altLang="en-US" sz="1800" dirty="0">
                <a:solidFill>
                  <a:schemeClr val="accent5">
                    <a:lumMod val="75000"/>
                  </a:schemeClr>
                </a:solidFill>
              </a:rPr>
              <a:t> </a:t>
            </a:r>
            <a:r>
              <a:rPr lang="en-US" altLang="zh-CN" sz="1800" dirty="0">
                <a:solidFill>
                  <a:schemeClr val="accent5">
                    <a:lumMod val="75000"/>
                  </a:schemeClr>
                </a:solidFill>
                <a:sym typeface="Wingdings" pitchFamily="2" charset="2"/>
              </a:rPr>
              <a:t></a:t>
            </a:r>
            <a:r>
              <a:rPr lang="zh-CN" altLang="en-US" sz="1800" dirty="0">
                <a:solidFill>
                  <a:schemeClr val="accent5">
                    <a:lumMod val="75000"/>
                  </a:schemeClr>
                </a:solidFill>
                <a:sym typeface="Wingdings" pitchFamily="2" charset="2"/>
              </a:rPr>
              <a:t> </a:t>
            </a:r>
            <a:r>
              <a:rPr lang="en-US" altLang="zh-CN" sz="1800" dirty="0" err="1">
                <a:solidFill>
                  <a:schemeClr val="accent5">
                    <a:lumMod val="75000"/>
                  </a:schemeClr>
                </a:solidFill>
                <a:sym typeface="Wingdings" pitchFamily="2" charset="2"/>
              </a:rPr>
              <a:t>HelloWorld.class</a:t>
            </a:r>
            <a:endParaRPr lang="en-US" sz="1800" dirty="0">
              <a:solidFill>
                <a:schemeClr val="accent5">
                  <a:lumMod val="75000"/>
                </a:schemeClr>
              </a:solidFill>
            </a:endParaRPr>
          </a:p>
        </p:txBody>
      </p:sp>
    </p:spTree>
    <p:extLst>
      <p:ext uri="{BB962C8B-B14F-4D97-AF65-F5344CB8AC3E}">
        <p14:creationId xmlns:p14="http://schemas.microsoft.com/office/powerpoint/2010/main" val="188195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C604-1CC9-6F88-587C-B2EA9ECE66E3}"/>
              </a:ext>
            </a:extLst>
          </p:cNvPr>
          <p:cNvSpPr>
            <a:spLocks noGrp="1"/>
          </p:cNvSpPr>
          <p:nvPr>
            <p:ph type="title"/>
          </p:nvPr>
        </p:nvSpPr>
        <p:spPr/>
        <p:txBody>
          <a:bodyPr/>
          <a:lstStyle/>
          <a:p>
            <a:r>
              <a:rPr lang="en-US" dirty="0"/>
              <a:t>Compiler and Interpreter </a:t>
            </a:r>
            <a:r>
              <a:rPr lang="en-US" sz="2000" b="0" dirty="0"/>
              <a:t>(2 of 4)</a:t>
            </a:r>
          </a:p>
        </p:txBody>
      </p:sp>
      <p:pic>
        <p:nvPicPr>
          <p:cNvPr id="5" name="Picture 4">
            <a:extLst>
              <a:ext uri="{FF2B5EF4-FFF2-40B4-BE49-F238E27FC236}">
                <a16:creationId xmlns:a16="http://schemas.microsoft.com/office/drawing/2014/main" id="{2E8F05C2-2E82-3B8A-C015-CAEE4CD05E07}"/>
              </a:ext>
            </a:extLst>
          </p:cNvPr>
          <p:cNvPicPr>
            <a:picLocks noChangeAspect="1"/>
          </p:cNvPicPr>
          <p:nvPr/>
        </p:nvPicPr>
        <p:blipFill>
          <a:blip r:embed="rId2"/>
          <a:stretch>
            <a:fillRect/>
          </a:stretch>
        </p:blipFill>
        <p:spPr>
          <a:xfrm>
            <a:off x="457200" y="1662700"/>
            <a:ext cx="7772400" cy="4059541"/>
          </a:xfrm>
          <a:prstGeom prst="rect">
            <a:avLst/>
          </a:prstGeom>
        </p:spPr>
      </p:pic>
      <p:sp>
        <p:nvSpPr>
          <p:cNvPr id="6" name="TextBox 5">
            <a:extLst>
              <a:ext uri="{FF2B5EF4-FFF2-40B4-BE49-F238E27FC236}">
                <a16:creationId xmlns:a16="http://schemas.microsoft.com/office/drawing/2014/main" id="{D3173776-4326-7EFD-C729-C6566A5A5CD2}"/>
              </a:ext>
            </a:extLst>
          </p:cNvPr>
          <p:cNvSpPr txBox="1"/>
          <p:nvPr/>
        </p:nvSpPr>
        <p:spPr>
          <a:xfrm>
            <a:off x="666427" y="5966847"/>
            <a:ext cx="7399783" cy="307777"/>
          </a:xfrm>
          <a:prstGeom prst="rect">
            <a:avLst/>
          </a:prstGeom>
          <a:noFill/>
        </p:spPr>
        <p:txBody>
          <a:bodyPr wrap="none" rtlCol="0">
            <a:spAutoFit/>
          </a:bodyPr>
          <a:lstStyle/>
          <a:p>
            <a:r>
              <a:rPr lang="en-US" altLang="zh-CN" dirty="0">
                <a:solidFill>
                  <a:schemeClr val="accent5">
                    <a:lumMod val="75000"/>
                  </a:schemeClr>
                </a:solidFill>
              </a:rPr>
              <a:t>C</a:t>
            </a:r>
            <a:r>
              <a:rPr lang="zh-CN" altLang="en-US" dirty="0">
                <a:solidFill>
                  <a:schemeClr val="accent5">
                    <a:lumMod val="75000"/>
                  </a:schemeClr>
                </a:solidFill>
              </a:rPr>
              <a:t> </a:t>
            </a:r>
            <a:r>
              <a:rPr lang="en-US" altLang="zh-CN" dirty="0">
                <a:solidFill>
                  <a:schemeClr val="accent5">
                    <a:lumMod val="75000"/>
                  </a:schemeClr>
                </a:solidFill>
              </a:rPr>
              <a:t>source</a:t>
            </a:r>
            <a:r>
              <a:rPr lang="zh-CN" altLang="en-US" dirty="0">
                <a:solidFill>
                  <a:schemeClr val="accent5">
                    <a:lumMod val="75000"/>
                  </a:schemeClr>
                </a:solidFill>
              </a:rPr>
              <a:t> </a:t>
            </a:r>
            <a:r>
              <a:rPr lang="en-US" altLang="zh-CN" dirty="0">
                <a:solidFill>
                  <a:schemeClr val="accent5">
                    <a:lumMod val="75000"/>
                  </a:schemeClr>
                </a:solidFill>
              </a:rPr>
              <a:t>program</a:t>
            </a:r>
            <a:r>
              <a:rPr lang="zh-CN" altLang="en-US" dirty="0">
                <a:solidFill>
                  <a:schemeClr val="accent5">
                    <a:lumMod val="75000"/>
                  </a:schemeClr>
                </a:solidFill>
              </a:rPr>
              <a:t> </a:t>
            </a:r>
            <a:r>
              <a:rPr lang="en-US" altLang="zh-CN" dirty="0">
                <a:solidFill>
                  <a:schemeClr val="accent5">
                    <a:lumMod val="75000"/>
                  </a:schemeClr>
                </a:solidFill>
                <a:sym typeface="Wingdings" pitchFamily="2" charset="2"/>
              </a:rPr>
              <a: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compiled</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to</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an</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executable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file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with</a:t>
            </a:r>
            <a:r>
              <a:rPr lang="zh-CN" altLang="en-US" dirty="0">
                <a:solidFill>
                  <a:schemeClr val="accent5">
                    <a:lumMod val="75000"/>
                  </a:schemeClr>
                </a:solidFill>
                <a:sym typeface="Wingdings" pitchFamily="2" charset="2"/>
              </a:rPr>
              <a:t> </a:t>
            </a:r>
            <a:r>
              <a:rPr lang="en-US" altLang="zh-CN" dirty="0" err="1">
                <a:solidFill>
                  <a:schemeClr val="accent5">
                    <a:lumMod val="75000"/>
                  </a:schemeClr>
                </a:solidFill>
                <a:sym typeface="Wingdings" pitchFamily="2" charset="2"/>
              </a:rPr>
              <a:t>gcc</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machine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language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program</a:t>
            </a:r>
            <a:endParaRPr lang="en-US" dirty="0">
              <a:solidFill>
                <a:schemeClr val="accent5">
                  <a:lumMod val="75000"/>
                </a:schemeClr>
              </a:solidFill>
            </a:endParaRPr>
          </a:p>
        </p:txBody>
      </p:sp>
    </p:spTree>
    <p:extLst>
      <p:ext uri="{BB962C8B-B14F-4D97-AF65-F5344CB8AC3E}">
        <p14:creationId xmlns:p14="http://schemas.microsoft.com/office/powerpoint/2010/main" val="1497666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dirty="0"/>
              <a:t>Compilers and Interpreters </a:t>
            </a:r>
            <a:r>
              <a:rPr lang="en-US" altLang="en-US" sz="2000" b="0" dirty="0"/>
              <a:t>(3 of 4)</a:t>
            </a:r>
            <a:endParaRPr lang="en-US" b="0" dirty="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7"/>
            <a:ext cx="8229600" cy="3556000"/>
          </a:xfrm>
        </p:spPr>
        <p:txBody>
          <a:bodyPr/>
          <a:lstStyle/>
          <a:p>
            <a:r>
              <a:rPr lang="en-US" altLang="en-US" b="1" u="sng" dirty="0"/>
              <a:t>Interpreter</a:t>
            </a:r>
            <a:r>
              <a:rPr lang="en-US" altLang="en-US" b="1" dirty="0"/>
              <a:t>: translates and executes instructions in high-level language program</a:t>
            </a:r>
          </a:p>
          <a:p>
            <a:pPr lvl="1"/>
            <a:r>
              <a:rPr lang="en-US" altLang="en-US" dirty="0"/>
              <a:t>Used by Python language</a:t>
            </a:r>
          </a:p>
          <a:p>
            <a:pPr lvl="1"/>
            <a:r>
              <a:rPr lang="en-US" altLang="en-US" dirty="0"/>
              <a:t>Interprets one instruction at a time</a:t>
            </a:r>
          </a:p>
          <a:p>
            <a:pPr lvl="1"/>
            <a:r>
              <a:rPr lang="en-US" altLang="en-US" dirty="0"/>
              <a:t>No separate machine language program</a:t>
            </a:r>
          </a:p>
          <a:p>
            <a:r>
              <a:rPr lang="en-US" altLang="en-US" b="1" dirty="0"/>
              <a:t>Source code: statements written by programmer</a:t>
            </a:r>
          </a:p>
          <a:p>
            <a:pPr lvl="1"/>
            <a:r>
              <a:rPr lang="en-US" altLang="en-US" b="1" dirty="0"/>
              <a:t>Syntax error</a:t>
            </a:r>
            <a:r>
              <a:rPr lang="en-US" altLang="en-US" dirty="0"/>
              <a:t>: prevents code from being translated</a:t>
            </a:r>
            <a:endParaRPr lang="en-US" dirty="0"/>
          </a:p>
        </p:txBody>
      </p:sp>
      <p:sp>
        <p:nvSpPr>
          <p:cNvPr id="5" name="TextBox 4">
            <a:extLst>
              <a:ext uri="{FF2B5EF4-FFF2-40B4-BE49-F238E27FC236}">
                <a16:creationId xmlns:a16="http://schemas.microsoft.com/office/drawing/2014/main" id="{C8793DB3-7FDB-9720-6A32-037EA78F8AC9}"/>
              </a:ext>
            </a:extLst>
          </p:cNvPr>
          <p:cNvSpPr txBox="1"/>
          <p:nvPr/>
        </p:nvSpPr>
        <p:spPr>
          <a:xfrm>
            <a:off x="457199" y="4910849"/>
            <a:ext cx="8229599" cy="1427958"/>
          </a:xfrm>
          <a:prstGeom prst="rect">
            <a:avLst/>
          </a:prstGeom>
          <a:noFill/>
        </p:spPr>
        <p:txBody>
          <a:bodyPr wrap="square" rtlCol="0">
            <a:spAutoFit/>
          </a:bodyPr>
          <a:lstStyle/>
          <a:p>
            <a:r>
              <a:rPr lang="en-US" altLang="zh-CN" dirty="0">
                <a:solidFill>
                  <a:schemeClr val="accent5">
                    <a:lumMod val="75000"/>
                  </a:schemeClr>
                </a:solidFill>
              </a:rPr>
              <a:t>Python</a:t>
            </a:r>
            <a:r>
              <a:rPr lang="zh-CN" altLang="en-US" dirty="0">
                <a:solidFill>
                  <a:schemeClr val="accent5">
                    <a:lumMod val="75000"/>
                  </a:schemeClr>
                </a:solidFill>
              </a:rPr>
              <a:t> </a:t>
            </a:r>
            <a:r>
              <a:rPr lang="en-US" altLang="zh-CN" dirty="0">
                <a:solidFill>
                  <a:schemeClr val="accent5">
                    <a:lumMod val="75000"/>
                  </a:schemeClr>
                </a:solidFill>
              </a:rPr>
              <a:t>and</a:t>
            </a:r>
            <a:r>
              <a:rPr lang="zh-CN" altLang="en-US" dirty="0">
                <a:solidFill>
                  <a:schemeClr val="accent5">
                    <a:lumMod val="75000"/>
                  </a:schemeClr>
                </a:solidFill>
              </a:rPr>
              <a:t> </a:t>
            </a:r>
            <a:r>
              <a:rPr lang="en-US" altLang="zh-CN" dirty="0">
                <a:solidFill>
                  <a:schemeClr val="accent5">
                    <a:lumMod val="75000"/>
                  </a:schemeClr>
                </a:solidFill>
              </a:rPr>
              <a:t>Java</a:t>
            </a:r>
            <a:r>
              <a:rPr lang="zh-CN" altLang="en-US" dirty="0">
                <a:solidFill>
                  <a:schemeClr val="accent5">
                    <a:lumMod val="75000"/>
                  </a:schemeClr>
                </a:solidFill>
              </a:rPr>
              <a:t> </a:t>
            </a:r>
            <a:r>
              <a:rPr lang="en-US" altLang="zh-CN" dirty="0">
                <a:solidFill>
                  <a:schemeClr val="accent5">
                    <a:lumMod val="75000"/>
                  </a:schemeClr>
                </a:solidFill>
              </a:rPr>
              <a:t>are</a:t>
            </a:r>
            <a:r>
              <a:rPr lang="zh-CN" altLang="en-US" dirty="0">
                <a:solidFill>
                  <a:schemeClr val="accent5">
                    <a:lumMod val="75000"/>
                  </a:schemeClr>
                </a:solidFill>
              </a:rPr>
              <a:t> </a:t>
            </a:r>
            <a:r>
              <a:rPr lang="en-US" altLang="zh-CN" dirty="0">
                <a:solidFill>
                  <a:schemeClr val="accent5">
                    <a:lumMod val="75000"/>
                  </a:schemeClr>
                </a:solidFill>
              </a:rPr>
              <a:t>often</a:t>
            </a:r>
            <a:r>
              <a:rPr lang="zh-CN" altLang="en-US" dirty="0">
                <a:solidFill>
                  <a:schemeClr val="accent5">
                    <a:lumMod val="75000"/>
                  </a:schemeClr>
                </a:solidFill>
              </a:rPr>
              <a:t> </a:t>
            </a:r>
            <a:r>
              <a:rPr lang="en-US" altLang="zh-CN" dirty="0">
                <a:solidFill>
                  <a:schemeClr val="accent5">
                    <a:lumMod val="75000"/>
                  </a:schemeClr>
                </a:solidFill>
              </a:rPr>
              <a:t>referred</a:t>
            </a:r>
            <a:r>
              <a:rPr lang="zh-CN" altLang="en-US" dirty="0">
                <a:solidFill>
                  <a:schemeClr val="accent5">
                    <a:lumMod val="75000"/>
                  </a:schemeClr>
                </a:solidFill>
              </a:rPr>
              <a:t> </a:t>
            </a:r>
            <a:r>
              <a:rPr lang="en-US" altLang="zh-CN" dirty="0">
                <a:solidFill>
                  <a:schemeClr val="accent5">
                    <a:lumMod val="75000"/>
                  </a:schemeClr>
                </a:solidFill>
              </a:rPr>
              <a:t>to</a:t>
            </a:r>
            <a:r>
              <a:rPr lang="zh-CN" altLang="en-US" dirty="0">
                <a:solidFill>
                  <a:schemeClr val="accent5">
                    <a:lumMod val="75000"/>
                  </a:schemeClr>
                </a:solidFill>
              </a:rPr>
              <a:t> </a:t>
            </a:r>
            <a:r>
              <a:rPr lang="en-US" altLang="zh-CN" dirty="0">
                <a:solidFill>
                  <a:schemeClr val="accent5">
                    <a:lumMod val="75000"/>
                  </a:schemeClr>
                </a:solidFill>
              </a:rPr>
              <a:t>“interpreted”</a:t>
            </a:r>
            <a:r>
              <a:rPr lang="zh-CN" altLang="en-US" dirty="0">
                <a:solidFill>
                  <a:schemeClr val="accent5">
                    <a:lumMod val="75000"/>
                  </a:schemeClr>
                </a:solidFill>
              </a:rPr>
              <a:t> </a:t>
            </a:r>
            <a:r>
              <a:rPr lang="en-US" altLang="zh-CN" dirty="0">
                <a:solidFill>
                  <a:schemeClr val="accent5">
                    <a:lumMod val="75000"/>
                  </a:schemeClr>
                </a:solidFill>
              </a:rPr>
              <a:t>language,</a:t>
            </a:r>
            <a:r>
              <a:rPr lang="zh-CN" altLang="en-US" dirty="0">
                <a:solidFill>
                  <a:schemeClr val="accent5">
                    <a:lumMod val="75000"/>
                  </a:schemeClr>
                </a:solidFill>
              </a:rPr>
              <a:t> </a:t>
            </a:r>
            <a:r>
              <a:rPr lang="en-US" altLang="zh-CN" dirty="0">
                <a:solidFill>
                  <a:schemeClr val="accent5">
                    <a:lumMod val="75000"/>
                  </a:schemeClr>
                </a:solidFill>
              </a:rPr>
              <a:t>they</a:t>
            </a:r>
            <a:r>
              <a:rPr lang="zh-CN" altLang="en-US" dirty="0">
                <a:solidFill>
                  <a:schemeClr val="accent5">
                    <a:lumMod val="75000"/>
                  </a:schemeClr>
                </a:solidFill>
              </a:rPr>
              <a:t> </a:t>
            </a:r>
            <a:r>
              <a:rPr lang="en-US" altLang="zh-CN" dirty="0">
                <a:solidFill>
                  <a:schemeClr val="accent5">
                    <a:lumMod val="75000"/>
                  </a:schemeClr>
                </a:solidFill>
              </a:rPr>
              <a:t>are</a:t>
            </a:r>
            <a:r>
              <a:rPr lang="zh-CN" altLang="en-US" dirty="0">
                <a:solidFill>
                  <a:schemeClr val="accent5">
                    <a:lumMod val="75000"/>
                  </a:schemeClr>
                </a:solidFill>
              </a:rPr>
              <a:t> </a:t>
            </a:r>
            <a:r>
              <a:rPr lang="en-US" altLang="zh-CN" dirty="0">
                <a:solidFill>
                  <a:schemeClr val="accent5">
                    <a:lumMod val="75000"/>
                  </a:schemeClr>
                </a:solidFill>
              </a:rPr>
              <a:t>similar</a:t>
            </a:r>
            <a:r>
              <a:rPr lang="zh-CN" altLang="en-US" dirty="0">
                <a:solidFill>
                  <a:schemeClr val="accent5">
                    <a:lumMod val="75000"/>
                  </a:schemeClr>
                </a:solidFill>
              </a:rPr>
              <a:t> </a:t>
            </a:r>
            <a:r>
              <a:rPr lang="en-US" altLang="zh-CN" dirty="0">
                <a:solidFill>
                  <a:schemeClr val="accent5">
                    <a:lumMod val="75000"/>
                  </a:schemeClr>
                </a:solidFill>
              </a:rPr>
              <a:t>but</a:t>
            </a:r>
            <a:r>
              <a:rPr lang="zh-CN" altLang="en-US" dirty="0">
                <a:solidFill>
                  <a:schemeClr val="accent5">
                    <a:lumMod val="75000"/>
                  </a:schemeClr>
                </a:solidFill>
              </a:rPr>
              <a:t> </a:t>
            </a:r>
            <a:r>
              <a:rPr lang="en-US" altLang="zh-CN" dirty="0">
                <a:solidFill>
                  <a:schemeClr val="accent5">
                    <a:lumMod val="75000"/>
                  </a:schemeClr>
                </a:solidFill>
              </a:rPr>
              <a:t>with</a:t>
            </a:r>
            <a:r>
              <a:rPr lang="zh-CN" altLang="en-US" dirty="0">
                <a:solidFill>
                  <a:schemeClr val="accent5">
                    <a:lumMod val="75000"/>
                  </a:schemeClr>
                </a:solidFill>
              </a:rPr>
              <a:t> </a:t>
            </a:r>
            <a:r>
              <a:rPr lang="en-US" altLang="zh-CN" dirty="0">
                <a:solidFill>
                  <a:schemeClr val="accent5">
                    <a:lumMod val="75000"/>
                  </a:schemeClr>
                </a:solidFill>
              </a:rPr>
              <a:t>difference:</a:t>
            </a:r>
          </a:p>
          <a:p>
            <a:pPr marL="285750" indent="-285750">
              <a:buFont typeface="Arial" panose="020B0604020202020204" pitchFamily="34" charset="0"/>
              <a:buChar char="•"/>
            </a:pPr>
            <a:r>
              <a:rPr lang="en-US" altLang="zh-CN" dirty="0">
                <a:solidFill>
                  <a:schemeClr val="accent5">
                    <a:lumMod val="75000"/>
                  </a:schemeClr>
                </a:solidFill>
              </a:rPr>
              <a:t>Python</a:t>
            </a:r>
            <a:r>
              <a:rPr lang="zh-CN" altLang="en-US" dirty="0">
                <a:solidFill>
                  <a:schemeClr val="accent5">
                    <a:lumMod val="75000"/>
                  </a:schemeClr>
                </a:solidFill>
              </a:rPr>
              <a:t> </a:t>
            </a:r>
            <a:r>
              <a:rPr lang="en-US" altLang="zh-CN" dirty="0">
                <a:solidFill>
                  <a:schemeClr val="accent5">
                    <a:lumMod val="75000"/>
                  </a:schemeClr>
                </a:solidFill>
              </a:rPr>
              <a:t>source</a:t>
            </a:r>
            <a:r>
              <a:rPr lang="zh-CN" altLang="en-US" dirty="0">
                <a:solidFill>
                  <a:schemeClr val="accent5">
                    <a:lumMod val="75000"/>
                  </a:schemeClr>
                </a:solidFill>
              </a:rPr>
              <a:t> </a:t>
            </a:r>
            <a:r>
              <a:rPr lang="en-US" altLang="zh-CN" dirty="0">
                <a:solidFill>
                  <a:schemeClr val="accent5">
                    <a:lumMod val="75000"/>
                  </a:schemeClr>
                </a:solidFill>
              </a:rPr>
              <a:t>code</a:t>
            </a:r>
            <a:r>
              <a:rPr lang="zh-CN" altLang="en-US" dirty="0">
                <a:solidFill>
                  <a:schemeClr val="accent5">
                    <a:lumMod val="75000"/>
                  </a:schemeClr>
                </a:solidFill>
              </a:rPr>
              <a:t> </a:t>
            </a:r>
            <a:r>
              <a:rPr lang="en-US" altLang="zh-CN" dirty="0">
                <a:solidFill>
                  <a:schemeClr val="accent5">
                    <a:lumMod val="75000"/>
                  </a:schemeClr>
                </a:solidFill>
                <a:sym typeface="Wingdings" pitchFamily="2" charset="2"/>
              </a:rPr>
              <a: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(compiled</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to</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binary</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code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to</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t>
            </a:r>
            <a:r>
              <a:rPr lang="en-US" altLang="zh-CN" dirty="0" err="1">
                <a:solidFill>
                  <a:schemeClr val="accent5">
                    <a:lumMod val="75000"/>
                  </a:schemeClr>
                </a:solidFill>
                <a:sym typeface="Wingdings" pitchFamily="2" charset="2"/>
              </a:rPr>
              <a:t>pyc</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file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placed</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in</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__</a:t>
            </a:r>
            <a:r>
              <a:rPr lang="en-US" altLang="zh-CN" dirty="0" err="1">
                <a:solidFill>
                  <a:schemeClr val="accent5">
                    <a:lumMod val="75000"/>
                  </a:schemeClr>
                </a:solidFill>
                <a:sym typeface="Wingdings" pitchFamily="2" charset="2"/>
              </a:rPr>
              <a:t>pycache</a:t>
            </a:r>
            <a:r>
              <a:rPr lang="en-US" altLang="zh-CN" dirty="0">
                <a:solidFill>
                  <a:schemeClr val="accent5">
                    <a:lumMod val="75000"/>
                  </a:schemeClr>
                </a:solidFill>
                <a:sym typeface="Wingdings" pitchFamily="2" charset="2"/>
              </a:rPr>
              <a:t>__)</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executed</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by</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Python</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Virtual</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Machine</a:t>
            </a:r>
          </a:p>
          <a:p>
            <a:pPr marL="285750" indent="-285750">
              <a:buFont typeface="Arial" panose="020B0604020202020204" pitchFamily="34" charset="0"/>
              <a:buChar char="•"/>
            </a:pPr>
            <a:r>
              <a:rPr lang="en-US" altLang="zh-CN" dirty="0">
                <a:solidFill>
                  <a:schemeClr val="accent5">
                    <a:lumMod val="75000"/>
                  </a:schemeClr>
                </a:solidFill>
                <a:sym typeface="Wingdings" pitchFamily="2" charset="2"/>
              </a:rPr>
              <a:t>Java</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source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code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compiled</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to</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binary</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code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to</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.class</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file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by</a:t>
            </a:r>
            <a:r>
              <a:rPr lang="zh-CN" altLang="en-US" dirty="0">
                <a:solidFill>
                  <a:schemeClr val="accent5">
                    <a:lumMod val="75000"/>
                  </a:schemeClr>
                </a:solidFill>
                <a:sym typeface="Wingdings" pitchFamily="2" charset="2"/>
              </a:rPr>
              <a:t> </a:t>
            </a:r>
            <a:r>
              <a:rPr lang="en-US" altLang="zh-CN" dirty="0" err="1">
                <a:solidFill>
                  <a:schemeClr val="accent5">
                    <a:lumMod val="75000"/>
                  </a:schemeClr>
                </a:solidFill>
                <a:sym typeface="Wingdings" pitchFamily="2" charset="2"/>
              </a:rPr>
              <a:t>javac</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executed</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by</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Java</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Virtual</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Machine</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with</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JIT</a:t>
            </a:r>
            <a:r>
              <a:rPr lang="zh-CN" altLang="en-US" dirty="0">
                <a:solidFill>
                  <a:schemeClr val="accent5">
                    <a:lumMod val="75000"/>
                  </a:schemeClr>
                </a:solidFill>
                <a:sym typeface="Wingdings" pitchFamily="2" charset="2"/>
              </a:rPr>
              <a:t> </a:t>
            </a:r>
            <a:r>
              <a:rPr lang="en-US" altLang="zh-CN" dirty="0">
                <a:solidFill>
                  <a:schemeClr val="accent5">
                    <a:lumMod val="75000"/>
                  </a:schemeClr>
                </a:solidFill>
                <a:sym typeface="Wingdings" pitchFamily="2" charset="2"/>
              </a:rPr>
              <a:t>optimization</a:t>
            </a:r>
          </a:p>
          <a:p>
            <a:r>
              <a:rPr lang="zh-CN" altLang="en-US" dirty="0">
                <a:solidFill>
                  <a:schemeClr val="accent5">
                    <a:lumMod val="75000"/>
                  </a:schemeClr>
                </a:solidFill>
                <a:sym typeface="Wingdings" pitchFamily="2" charset="2"/>
              </a:rPr>
              <a:t> </a:t>
            </a:r>
            <a:endParaRPr lang="en-US" dirty="0">
              <a:solidFill>
                <a:schemeClr val="accent5">
                  <a:lumMod val="75000"/>
                </a:schemeClr>
              </a:solidFill>
            </a:endParaRPr>
          </a:p>
        </p:txBody>
      </p:sp>
    </p:spTree>
    <p:extLst>
      <p:ext uri="{BB962C8B-B14F-4D97-AF65-F5344CB8AC3E}">
        <p14:creationId xmlns:p14="http://schemas.microsoft.com/office/powerpoint/2010/main" val="2082023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a:xfrm>
            <a:off x="457200" y="450687"/>
            <a:ext cx="8229600" cy="1097279"/>
          </a:xfrm>
          <a:solidFill>
            <a:schemeClr val="bg1">
              <a:lumMod val="95000"/>
            </a:schemeClr>
          </a:solidFill>
        </p:spPr>
        <p:txBody>
          <a:bodyPr/>
          <a:lstStyle/>
          <a:p>
            <a:r>
              <a:rPr lang="en-US" altLang="en-US" dirty="0"/>
              <a:t>Compilers and Interpreters </a:t>
            </a:r>
            <a:r>
              <a:rPr lang="en-US" altLang="en-US" sz="2000" b="0" dirty="0"/>
              <a:t>(4 of 4)</a:t>
            </a:r>
            <a:endParaRPr lang="en-US" dirty="0"/>
          </a:p>
        </p:txBody>
      </p:sp>
      <p:pic>
        <p:nvPicPr>
          <p:cNvPr id="7" name="Content Placeholder 6" descr="An illustration depicts the process of executing a high level program by an interpreter. For long description in Notes pane, press F6.">
            <a:extLst>
              <a:ext uri="{FF2B5EF4-FFF2-40B4-BE49-F238E27FC236}">
                <a16:creationId xmlns:a16="http://schemas.microsoft.com/office/drawing/2014/main" id="{AE518CB2-3030-47AF-920A-80FA39BB4554}"/>
              </a:ext>
            </a:extLst>
          </p:cNvPr>
          <p:cNvPicPr>
            <a:picLocks noGrp="1" noChangeAspect="1"/>
          </p:cNvPicPr>
          <p:nvPr>
            <p:ph sz="quarter" idx="13"/>
          </p:nvPr>
        </p:nvPicPr>
        <p:blipFill>
          <a:blip r:embed="rId3"/>
          <a:stretch>
            <a:fillRect/>
          </a:stretch>
        </p:blipFill>
        <p:spPr>
          <a:xfrm>
            <a:off x="464967" y="1875602"/>
            <a:ext cx="8237817" cy="3082985"/>
          </a:xfrm>
        </p:spPr>
      </p:pic>
      <p:sp>
        <p:nvSpPr>
          <p:cNvPr id="5" name="Content Placeholder 4">
            <a:extLst>
              <a:ext uri="{FF2B5EF4-FFF2-40B4-BE49-F238E27FC236}">
                <a16:creationId xmlns:a16="http://schemas.microsoft.com/office/drawing/2014/main" id="{1751BB21-663D-46DB-89F1-65A955002E2F}"/>
              </a:ext>
            </a:extLst>
          </p:cNvPr>
          <p:cNvSpPr>
            <a:spLocks noGrp="1"/>
          </p:cNvSpPr>
          <p:nvPr>
            <p:ph sz="quarter" idx="14"/>
          </p:nvPr>
        </p:nvSpPr>
        <p:spPr>
          <a:xfrm>
            <a:off x="457200" y="5613858"/>
            <a:ext cx="8229600" cy="421264"/>
          </a:xfrm>
        </p:spPr>
        <p:txBody>
          <a:bodyPr/>
          <a:lstStyle/>
          <a:p>
            <a:pPr marL="432" indent="0">
              <a:buNone/>
            </a:pPr>
            <a:r>
              <a:rPr lang="en-US" altLang="en-US" sz="1600" b="1" dirty="0"/>
              <a:t>Figure 1-19</a:t>
            </a:r>
            <a:r>
              <a:rPr lang="en-US" altLang="en-US" sz="1600" dirty="0"/>
              <a:t> Executing a high-level program with an interpreter</a:t>
            </a:r>
            <a:endParaRPr lang="en-US" sz="1600" dirty="0"/>
          </a:p>
        </p:txBody>
      </p:sp>
      <p:sp>
        <p:nvSpPr>
          <p:cNvPr id="3" name="TextBox 2">
            <a:extLst>
              <a:ext uri="{FF2B5EF4-FFF2-40B4-BE49-F238E27FC236}">
                <a16:creationId xmlns:a16="http://schemas.microsoft.com/office/drawing/2014/main" id="{ECE97D6D-E5C0-E439-C906-8892F78C8361}"/>
              </a:ext>
            </a:extLst>
          </p:cNvPr>
          <p:cNvSpPr txBox="1"/>
          <p:nvPr/>
        </p:nvSpPr>
        <p:spPr>
          <a:xfrm>
            <a:off x="2770573" y="1598589"/>
            <a:ext cx="2297373" cy="738664"/>
          </a:xfrm>
          <a:prstGeom prst="rect">
            <a:avLst/>
          </a:prstGeom>
          <a:noFill/>
        </p:spPr>
        <p:txBody>
          <a:bodyPr wrap="square" rtlCol="0">
            <a:spAutoFit/>
          </a:bodyPr>
          <a:lstStyle/>
          <a:p>
            <a:r>
              <a:rPr lang="en-US" altLang="zh-CN" dirty="0">
                <a:solidFill>
                  <a:schemeClr val="accent5">
                    <a:lumMod val="75000"/>
                  </a:schemeClr>
                </a:solidFill>
              </a:rPr>
              <a:t>Compilation</a:t>
            </a:r>
            <a:r>
              <a:rPr lang="zh-CN" altLang="en-US" dirty="0">
                <a:solidFill>
                  <a:schemeClr val="accent5">
                    <a:lumMod val="75000"/>
                  </a:schemeClr>
                </a:solidFill>
              </a:rPr>
              <a:t> </a:t>
            </a:r>
            <a:r>
              <a:rPr lang="en-US" altLang="zh-CN" dirty="0">
                <a:solidFill>
                  <a:schemeClr val="accent5">
                    <a:lumMod val="75000"/>
                  </a:schemeClr>
                </a:solidFill>
              </a:rPr>
              <a:t>is</a:t>
            </a:r>
            <a:r>
              <a:rPr lang="zh-CN" altLang="en-US" dirty="0">
                <a:solidFill>
                  <a:schemeClr val="accent5">
                    <a:lumMod val="75000"/>
                  </a:schemeClr>
                </a:solidFill>
              </a:rPr>
              <a:t> </a:t>
            </a:r>
            <a:r>
              <a:rPr lang="en-US" altLang="zh-CN" dirty="0">
                <a:solidFill>
                  <a:schemeClr val="accent5">
                    <a:lumMod val="75000"/>
                  </a:schemeClr>
                </a:solidFill>
              </a:rPr>
              <a:t>performed</a:t>
            </a:r>
            <a:r>
              <a:rPr lang="zh-CN" altLang="en-US" dirty="0">
                <a:solidFill>
                  <a:schemeClr val="accent5">
                    <a:lumMod val="75000"/>
                  </a:schemeClr>
                </a:solidFill>
              </a:rPr>
              <a:t> </a:t>
            </a:r>
            <a:r>
              <a:rPr lang="en-US" altLang="zh-CN" dirty="0">
                <a:solidFill>
                  <a:schemeClr val="accent5">
                    <a:lumMod val="75000"/>
                  </a:schemeClr>
                </a:solidFill>
              </a:rPr>
              <a:t>automatically</a:t>
            </a:r>
            <a:r>
              <a:rPr lang="zh-CN" altLang="en-US" dirty="0">
                <a:solidFill>
                  <a:schemeClr val="accent5">
                    <a:lumMod val="75000"/>
                  </a:schemeClr>
                </a:solidFill>
              </a:rPr>
              <a:t> </a:t>
            </a:r>
            <a:r>
              <a:rPr lang="en-US" altLang="zh-CN" dirty="0">
                <a:solidFill>
                  <a:schemeClr val="accent5">
                    <a:lumMod val="75000"/>
                  </a:schemeClr>
                </a:solidFill>
              </a:rPr>
              <a:t>and</a:t>
            </a:r>
            <a:r>
              <a:rPr lang="zh-CN" altLang="en-US" dirty="0">
                <a:solidFill>
                  <a:schemeClr val="accent5">
                    <a:lumMod val="75000"/>
                  </a:schemeClr>
                </a:solidFill>
              </a:rPr>
              <a:t> </a:t>
            </a:r>
            <a:r>
              <a:rPr lang="en-US" altLang="zh-CN" dirty="0">
                <a:solidFill>
                  <a:schemeClr val="accent5">
                    <a:lumMod val="75000"/>
                  </a:schemeClr>
                </a:solidFill>
              </a:rPr>
              <a:t>hidden</a:t>
            </a:r>
          </a:p>
          <a:p>
            <a:endParaRPr lang="en-US" dirty="0">
              <a:solidFill>
                <a:schemeClr val="accent5">
                  <a:lumMod val="75000"/>
                </a:schemeClr>
              </a:solidFill>
            </a:endParaRPr>
          </a:p>
        </p:txBody>
      </p:sp>
    </p:spTree>
    <p:extLst>
      <p:ext uri="{BB962C8B-B14F-4D97-AF65-F5344CB8AC3E}">
        <p14:creationId xmlns:p14="http://schemas.microsoft.com/office/powerpoint/2010/main" val="2874962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dirty="0"/>
              <a:t>1-5 Using Python</a:t>
            </a:r>
            <a:endParaRPr lang="en-US" dirty="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8"/>
            <a:ext cx="8229600" cy="2485586"/>
          </a:xfrm>
        </p:spPr>
        <p:txBody>
          <a:bodyPr/>
          <a:lstStyle/>
          <a:p>
            <a:r>
              <a:rPr lang="en-US" altLang="en-US" b="1" dirty="0"/>
              <a:t>Python must be installed and configured prior to use</a:t>
            </a:r>
          </a:p>
          <a:p>
            <a:pPr lvl="1"/>
            <a:r>
              <a:rPr lang="en-US" altLang="en-US" dirty="0"/>
              <a:t>One of the items installed is the Python interpreter</a:t>
            </a:r>
          </a:p>
          <a:p>
            <a:r>
              <a:rPr lang="en-US" altLang="en-US" b="1" dirty="0"/>
              <a:t>Python interpreter can be used in two modes:</a:t>
            </a:r>
          </a:p>
          <a:p>
            <a:pPr lvl="1"/>
            <a:r>
              <a:rPr lang="en-US" altLang="en-US" u="sng" dirty="0"/>
              <a:t>Interactive mode</a:t>
            </a:r>
            <a:r>
              <a:rPr lang="en-US" altLang="en-US" dirty="0"/>
              <a:t>: enter statements on keyboard</a:t>
            </a:r>
          </a:p>
          <a:p>
            <a:pPr lvl="1"/>
            <a:r>
              <a:rPr lang="en-US" altLang="en-US" u="sng" dirty="0"/>
              <a:t>Script mode</a:t>
            </a:r>
            <a:r>
              <a:rPr lang="en-US" altLang="en-US" dirty="0"/>
              <a:t>: save statements in Python script</a:t>
            </a:r>
            <a:endParaRPr lang="en-US" dirty="0"/>
          </a:p>
        </p:txBody>
      </p:sp>
    </p:spTree>
    <p:extLst>
      <p:ext uri="{BB962C8B-B14F-4D97-AF65-F5344CB8AC3E}">
        <p14:creationId xmlns:p14="http://schemas.microsoft.com/office/powerpoint/2010/main" val="1971085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a:t>Interactive Mode</a:t>
            </a:r>
            <a:endParaRPr lang="en-US"/>
          </a:p>
        </p:txBody>
      </p:sp>
      <p:sp>
        <p:nvSpPr>
          <p:cNvPr id="6" name="Content Placeholder 5">
            <a:extLst>
              <a:ext uri="{FF2B5EF4-FFF2-40B4-BE49-F238E27FC236}">
                <a16:creationId xmlns:a16="http://schemas.microsoft.com/office/drawing/2014/main" id="{6ED47AFA-F697-4A06-93D9-4060B263AB8C}"/>
              </a:ext>
            </a:extLst>
          </p:cNvPr>
          <p:cNvSpPr>
            <a:spLocks noGrp="1"/>
          </p:cNvSpPr>
          <p:nvPr>
            <p:ph sz="quarter" idx="13"/>
          </p:nvPr>
        </p:nvSpPr>
        <p:spPr>
          <a:xfrm>
            <a:off x="461030" y="1556326"/>
            <a:ext cx="8214658" cy="909783"/>
          </a:xfrm>
        </p:spPr>
        <p:txBody>
          <a:bodyPr/>
          <a:lstStyle/>
          <a:p>
            <a:r>
              <a:rPr lang="en-US" altLang="en-US" b="1" dirty="0"/>
              <a:t>When you start Python in interactive mode, you will see a prompt</a:t>
            </a:r>
            <a:endParaRPr lang="en-US" b="1" dirty="0"/>
          </a:p>
        </p:txBody>
      </p:sp>
      <p:sp>
        <p:nvSpPr>
          <p:cNvPr id="7" name="Content Placeholder 6">
            <a:extLst>
              <a:ext uri="{FF2B5EF4-FFF2-40B4-BE49-F238E27FC236}">
                <a16:creationId xmlns:a16="http://schemas.microsoft.com/office/drawing/2014/main" id="{F586397E-CBB0-4560-9959-9EF72E5F6700}"/>
              </a:ext>
            </a:extLst>
          </p:cNvPr>
          <p:cNvSpPr>
            <a:spLocks noGrp="1"/>
          </p:cNvSpPr>
          <p:nvPr>
            <p:ph sz="quarter" idx="14"/>
          </p:nvPr>
        </p:nvSpPr>
        <p:spPr>
          <a:xfrm>
            <a:off x="900544" y="2560317"/>
            <a:ext cx="888499" cy="432000"/>
          </a:xfrm>
        </p:spPr>
        <p:txBody>
          <a:bodyPr tIns="36000"/>
          <a:lstStyle/>
          <a:p>
            <a:pPr marL="432" indent="0">
              <a:buNone/>
            </a:pPr>
            <a:r>
              <a:rPr lang="en-US" altLang="en-US" dirty="0">
                <a:latin typeface="Courier New" panose="02070309020205020404" pitchFamily="49" charset="0"/>
                <a:cs typeface="Courier New" panose="02070309020205020404" pitchFamily="49" charset="0"/>
              </a:rPr>
              <a:t>&gt;&gt;&gt;</a:t>
            </a:r>
            <a:endParaRPr lang="en-US" dirty="0">
              <a:latin typeface="Courier New" panose="02070309020205020404" pitchFamily="49" charset="0"/>
              <a:cs typeface="Courier New" panose="02070309020205020404" pitchFamily="49" charset="0"/>
            </a:endParaRPr>
          </a:p>
        </p:txBody>
      </p:sp>
      <p:sp>
        <p:nvSpPr>
          <p:cNvPr id="8" name="Content Placeholder 7">
            <a:extLst>
              <a:ext uri="{FF2B5EF4-FFF2-40B4-BE49-F238E27FC236}">
                <a16:creationId xmlns:a16="http://schemas.microsoft.com/office/drawing/2014/main" id="{C81B4A2C-F7E3-4F2D-A8A8-8EDBA5D5F17B}"/>
              </a:ext>
            </a:extLst>
          </p:cNvPr>
          <p:cNvSpPr>
            <a:spLocks noGrp="1"/>
          </p:cNvSpPr>
          <p:nvPr>
            <p:ph sz="quarter" idx="15"/>
          </p:nvPr>
        </p:nvSpPr>
        <p:spPr>
          <a:xfrm>
            <a:off x="457200" y="3172547"/>
            <a:ext cx="7339263" cy="2281770"/>
          </a:xfrm>
        </p:spPr>
        <p:txBody>
          <a:bodyPr tIns="0"/>
          <a:lstStyle/>
          <a:p>
            <a:pPr lvl="1"/>
            <a:r>
              <a:rPr lang="en-US" altLang="en-US" sz="2000" dirty="0"/>
              <a:t>Indicates the interpreter is waiting for a Python statement to be typed</a:t>
            </a:r>
          </a:p>
          <a:p>
            <a:pPr lvl="1"/>
            <a:r>
              <a:rPr lang="en-US" altLang="en-US" sz="2000" dirty="0"/>
              <a:t>Prompt reappears after previous statement is executed</a:t>
            </a:r>
          </a:p>
          <a:p>
            <a:pPr lvl="1"/>
            <a:r>
              <a:rPr lang="en-US" altLang="en-US" sz="2000" dirty="0"/>
              <a:t>Error message displayed If you incorrectly type a statement</a:t>
            </a:r>
          </a:p>
          <a:p>
            <a:r>
              <a:rPr lang="en-US" altLang="en-US" b="1" dirty="0"/>
              <a:t>Good way to learn new parts of Python</a:t>
            </a:r>
            <a:endParaRPr lang="en-US" dirty="0"/>
          </a:p>
        </p:txBody>
      </p:sp>
    </p:spTree>
    <p:extLst>
      <p:ext uri="{BB962C8B-B14F-4D97-AF65-F5344CB8AC3E}">
        <p14:creationId xmlns:p14="http://schemas.microsoft.com/office/powerpoint/2010/main" val="2986165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sz="3200"/>
              <a:t>Writing Python Programs and Running Them in Script Mode</a:t>
            </a:r>
            <a:endParaRPr lang="en-US" sz="320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7"/>
            <a:ext cx="8478253" cy="3731290"/>
          </a:xfrm>
        </p:spPr>
        <p:txBody>
          <a:bodyPr/>
          <a:lstStyle/>
          <a:p>
            <a:pPr>
              <a:buFontTx/>
              <a:buChar char="•"/>
            </a:pPr>
            <a:r>
              <a:rPr lang="en-US" altLang="en-US" b="1" dirty="0"/>
              <a:t>Statements entered in interactive mode are not saved as a program</a:t>
            </a:r>
          </a:p>
          <a:p>
            <a:pPr>
              <a:buFontTx/>
              <a:buChar char="•"/>
            </a:pPr>
            <a:r>
              <a:rPr lang="en-US" altLang="en-US" b="1" dirty="0"/>
              <a:t>To create a program, use script mode</a:t>
            </a:r>
          </a:p>
          <a:p>
            <a:pPr lvl="1" eaLnBrk="1" hangingPunct="1"/>
            <a:r>
              <a:rPr lang="en-US" altLang="en-US" dirty="0"/>
              <a:t>Save a set of Python statements in a file</a:t>
            </a:r>
          </a:p>
          <a:p>
            <a:pPr lvl="1" eaLnBrk="1" hangingPunct="1"/>
            <a:r>
              <a:rPr lang="en-US" altLang="en-US" dirty="0"/>
              <a:t>The filename should have the </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py</a:t>
            </a:r>
            <a:r>
              <a:rPr lang="en-US" altLang="en-US" dirty="0"/>
              <a:t> extension</a:t>
            </a:r>
          </a:p>
          <a:p>
            <a:pPr lvl="1" eaLnBrk="1" hangingPunct="1"/>
            <a:r>
              <a:rPr lang="en-US" altLang="en-US" dirty="0"/>
              <a:t>To run the file, or script, type</a:t>
            </a:r>
          </a:p>
          <a:p>
            <a:pPr lvl="1" indent="-30163" eaLnBrk="1" hangingPunct="1">
              <a:buFont typeface="Arial" panose="020B0604020202020204" pitchFamily="34" charset="0"/>
              <a:buNone/>
            </a:pPr>
            <a:r>
              <a:rPr lang="en-US" altLang="en-US" dirty="0">
                <a:latin typeface="Courier New" panose="02070309020205020404" pitchFamily="49" charset="0"/>
                <a:cs typeface="Courier New" panose="02070309020205020404" pitchFamily="49" charset="0"/>
              </a:rPr>
              <a:t>python </a:t>
            </a:r>
            <a:r>
              <a:rPr lang="en-US" altLang="en-US" i="1" dirty="0">
                <a:latin typeface="Courier New" panose="02070309020205020404" pitchFamily="49" charset="0"/>
                <a:cs typeface="Courier New" panose="02070309020205020404" pitchFamily="49" charset="0"/>
              </a:rPr>
              <a:t>filename </a:t>
            </a:r>
            <a:r>
              <a:rPr lang="en-US" altLang="en-US" sz="1800" i="1" dirty="0">
                <a:solidFill>
                  <a:schemeClr val="accent5">
                    <a:lumMod val="75000"/>
                  </a:schemeClr>
                </a:solidFill>
                <a:latin typeface="Courier New" panose="02070309020205020404" pitchFamily="49" charset="0"/>
                <a:cs typeface="Courier New" panose="02070309020205020404" pitchFamily="49" charset="0"/>
              </a:rPr>
              <a:t>(use python3 in MacOS)</a:t>
            </a:r>
            <a:endParaRPr lang="en-US" altLang="en-US" dirty="0">
              <a:latin typeface="Courier New" panose="02070309020205020404" pitchFamily="49" charset="0"/>
              <a:cs typeface="Courier New" panose="02070309020205020404" pitchFamily="49" charset="0"/>
            </a:endParaRPr>
          </a:p>
          <a:p>
            <a:pPr lvl="1" indent="-30163" eaLnBrk="1" hangingPunct="1">
              <a:buFont typeface="Arial" panose="020B0604020202020204" pitchFamily="34" charset="0"/>
              <a:buNone/>
            </a:pPr>
            <a:r>
              <a:rPr lang="en-US" altLang="en-US" dirty="0"/>
              <a:t>at the operating system command line</a:t>
            </a:r>
            <a:endParaRPr lang="en-US" dirty="0"/>
          </a:p>
        </p:txBody>
      </p:sp>
    </p:spTree>
    <p:extLst>
      <p:ext uri="{BB962C8B-B14F-4D97-AF65-F5344CB8AC3E}">
        <p14:creationId xmlns:p14="http://schemas.microsoft.com/office/powerpoint/2010/main" val="3829903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a:noFill/>
        </p:spPr>
        <p:txBody>
          <a:bodyPr/>
          <a:lstStyle/>
          <a:p>
            <a:r>
              <a:rPr lang="en-US" altLang="en-US" sz="3400" dirty="0"/>
              <a:t>The I</a:t>
            </a:r>
            <a:r>
              <a:rPr lang="en-US" altLang="en-US" sz="100" dirty="0"/>
              <a:t> </a:t>
            </a:r>
            <a:r>
              <a:rPr lang="en-US" altLang="en-US" sz="3400" dirty="0"/>
              <a:t>D</a:t>
            </a:r>
            <a:r>
              <a:rPr lang="en-US" altLang="en-US" sz="100" dirty="0"/>
              <a:t> </a:t>
            </a:r>
            <a:r>
              <a:rPr lang="en-US" altLang="en-US" sz="3400" dirty="0"/>
              <a:t>L</a:t>
            </a:r>
            <a:r>
              <a:rPr lang="en-US" altLang="en-US" sz="100" dirty="0"/>
              <a:t> </a:t>
            </a:r>
            <a:r>
              <a:rPr lang="en-US" altLang="en-US" sz="3400" dirty="0"/>
              <a:t>E Programming Environment</a:t>
            </a:r>
            <a:endParaRPr lang="en-US" sz="3400" dirty="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7"/>
            <a:ext cx="8104909" cy="3531867"/>
          </a:xfrm>
        </p:spPr>
        <p:txBody>
          <a:bodyPr/>
          <a:lstStyle/>
          <a:p>
            <a:r>
              <a:rPr lang="en-US" altLang="en-US" b="1" dirty="0"/>
              <a:t>I</a:t>
            </a:r>
            <a:r>
              <a:rPr lang="en-US" altLang="en-US" sz="100" b="1" dirty="0"/>
              <a:t> </a:t>
            </a:r>
            <a:r>
              <a:rPr lang="en-US" altLang="en-US" b="1" dirty="0"/>
              <a:t>D</a:t>
            </a:r>
            <a:r>
              <a:rPr lang="en-US" altLang="en-US" sz="100" b="1" dirty="0"/>
              <a:t> </a:t>
            </a:r>
            <a:r>
              <a:rPr lang="en-US" altLang="en-US" b="1" dirty="0"/>
              <a:t>L</a:t>
            </a:r>
            <a:r>
              <a:rPr lang="en-US" altLang="en-US" sz="100" b="1" dirty="0"/>
              <a:t> </a:t>
            </a:r>
            <a:r>
              <a:rPr lang="en-US" altLang="en-US" b="1" dirty="0"/>
              <a:t>E (Integrated Development Program): single program that provides tools to write, execute and test a program</a:t>
            </a:r>
          </a:p>
          <a:p>
            <a:pPr lvl="1"/>
            <a:r>
              <a:rPr lang="en-US" altLang="en-US" dirty="0"/>
              <a:t>Automatically installed when Python language is installed</a:t>
            </a:r>
          </a:p>
          <a:p>
            <a:pPr lvl="1"/>
            <a:r>
              <a:rPr lang="en-US" altLang="en-US" dirty="0"/>
              <a:t>Runs in interactive mode</a:t>
            </a:r>
          </a:p>
          <a:p>
            <a:pPr lvl="1"/>
            <a:r>
              <a:rPr lang="en-US" altLang="en-US" dirty="0"/>
              <a:t>Has built-in text editor with features designed to help write Python programs</a:t>
            </a:r>
            <a:endParaRPr lang="en-US" dirty="0"/>
          </a:p>
        </p:txBody>
      </p:sp>
    </p:spTree>
    <p:extLst>
      <p:ext uri="{BB962C8B-B14F-4D97-AF65-F5344CB8AC3E}">
        <p14:creationId xmlns:p14="http://schemas.microsoft.com/office/powerpoint/2010/main" val="382131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F986-1314-46E6-9AF7-394069A6AE61}"/>
              </a:ext>
            </a:extLst>
          </p:cNvPr>
          <p:cNvSpPr>
            <a:spLocks noGrp="1"/>
          </p:cNvSpPr>
          <p:nvPr>
            <p:ph type="title"/>
          </p:nvPr>
        </p:nvSpPr>
        <p:spPr/>
        <p:txBody>
          <a:bodyPr/>
          <a:lstStyle/>
          <a:p>
            <a:r>
              <a:rPr lang="en-US" altLang="en-US" dirty="0"/>
              <a:t>Summary</a:t>
            </a:r>
            <a:endParaRPr lang="en-US" dirty="0"/>
          </a:p>
        </p:txBody>
      </p:sp>
      <p:sp>
        <p:nvSpPr>
          <p:cNvPr id="3" name="Content Placeholder 2">
            <a:extLst>
              <a:ext uri="{FF2B5EF4-FFF2-40B4-BE49-F238E27FC236}">
                <a16:creationId xmlns:a16="http://schemas.microsoft.com/office/drawing/2014/main" id="{4A080BEF-9B8A-48C1-8D48-36C21180D0AF}"/>
              </a:ext>
            </a:extLst>
          </p:cNvPr>
          <p:cNvSpPr>
            <a:spLocks noGrp="1"/>
          </p:cNvSpPr>
          <p:nvPr>
            <p:ph sz="quarter" idx="13"/>
          </p:nvPr>
        </p:nvSpPr>
        <p:spPr>
          <a:xfrm>
            <a:off x="457200" y="1556326"/>
            <a:ext cx="8229600" cy="4381335"/>
          </a:xfrm>
        </p:spPr>
        <p:txBody>
          <a:bodyPr/>
          <a:lstStyle/>
          <a:p>
            <a:r>
              <a:rPr lang="en-US" altLang="en-US" b="1" dirty="0"/>
              <a:t>This chapter covered:</a:t>
            </a:r>
          </a:p>
          <a:p>
            <a:pPr lvl="1"/>
            <a:r>
              <a:rPr lang="en-US" altLang="en-US" dirty="0"/>
              <a:t>Main hardware components of the computer</a:t>
            </a:r>
          </a:p>
          <a:p>
            <a:pPr lvl="1"/>
            <a:r>
              <a:rPr lang="en-US" altLang="en-US" dirty="0"/>
              <a:t>Types of software</a:t>
            </a:r>
          </a:p>
          <a:p>
            <a:pPr lvl="1"/>
            <a:r>
              <a:rPr lang="en-US" altLang="en-US" dirty="0"/>
              <a:t>How data is stored in a computer</a:t>
            </a:r>
          </a:p>
          <a:p>
            <a:pPr lvl="1"/>
            <a:r>
              <a:rPr lang="en-US" altLang="en-US" dirty="0"/>
              <a:t>Basic C</a:t>
            </a:r>
            <a:r>
              <a:rPr lang="en-US" altLang="en-US" sz="100" dirty="0"/>
              <a:t> </a:t>
            </a:r>
            <a:r>
              <a:rPr lang="en-US" altLang="en-US" dirty="0"/>
              <a:t>P</a:t>
            </a:r>
            <a:r>
              <a:rPr lang="en-US" altLang="en-US" sz="100" dirty="0"/>
              <a:t> </a:t>
            </a:r>
            <a:r>
              <a:rPr lang="en-US" altLang="en-US" dirty="0"/>
              <a:t>U operations and machine language</a:t>
            </a:r>
          </a:p>
          <a:p>
            <a:pPr lvl="1"/>
            <a:r>
              <a:rPr lang="en-US" altLang="en-US" dirty="0"/>
              <a:t>Fetch-decode-execute cycle</a:t>
            </a:r>
          </a:p>
          <a:p>
            <a:pPr lvl="1"/>
            <a:r>
              <a:rPr lang="en-US" altLang="en-US" dirty="0"/>
              <a:t>Complex languages and their translation to machine code</a:t>
            </a:r>
          </a:p>
          <a:p>
            <a:pPr lvl="1"/>
            <a:r>
              <a:rPr lang="en-US" altLang="en-US" dirty="0"/>
              <a:t>Installing Python and the Python interpreter modes</a:t>
            </a:r>
            <a:endParaRPr lang="en-US" dirty="0"/>
          </a:p>
        </p:txBody>
      </p:sp>
    </p:spTree>
    <p:extLst>
      <p:ext uri="{BB962C8B-B14F-4D97-AF65-F5344CB8AC3E}">
        <p14:creationId xmlns:p14="http://schemas.microsoft.com/office/powerpoint/2010/main" val="3579656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151828</TotalTime>
  <Words>2700</Words>
  <Application>Microsoft Office PowerPoint</Application>
  <PresentationFormat>全屏显示(4:3)</PresentationFormat>
  <Paragraphs>274</Paragraphs>
  <Slides>36</Slides>
  <Notes>11</Notes>
  <HiddenSlides>0</HiddenSlides>
  <MMClips>0</MMClips>
  <ScaleCrop>false</ScaleCrop>
  <HeadingPairs>
    <vt:vector size="4" baseType="variant">
      <vt:variant>
        <vt:lpstr>主题</vt:lpstr>
      </vt:variant>
      <vt:variant>
        <vt:i4>2</vt:i4>
      </vt:variant>
      <vt:variant>
        <vt:lpstr>幻灯片标题</vt:lpstr>
      </vt:variant>
      <vt:variant>
        <vt:i4>36</vt:i4>
      </vt:variant>
    </vt:vector>
  </HeadingPairs>
  <TitlesOfParts>
    <vt:vector size="38" baseType="lpstr">
      <vt:lpstr>USHE</vt:lpstr>
      <vt:lpstr>USHE_slide options</vt:lpstr>
      <vt:lpstr>Starting Out with Python</vt:lpstr>
      <vt:lpstr>Topics</vt:lpstr>
      <vt:lpstr>1-1 Introduction</vt:lpstr>
      <vt:lpstr>1-2 Hardware and Software</vt:lpstr>
      <vt:lpstr>The C P U</vt:lpstr>
      <vt:lpstr>Main Memory</vt:lpstr>
      <vt:lpstr>Secondary Storage Devices</vt:lpstr>
      <vt:lpstr>Input Devices (I/O)</vt:lpstr>
      <vt:lpstr>Output Devices (I/O)</vt:lpstr>
      <vt:lpstr>Software (1 of 2)</vt:lpstr>
      <vt:lpstr>Software (2 of 2)</vt:lpstr>
      <vt:lpstr>1-3 How Computers Store Data</vt:lpstr>
      <vt:lpstr>Bit Pattern: number and letter</vt:lpstr>
      <vt:lpstr>Storing Numbers</vt:lpstr>
      <vt:lpstr>Conversion: Decimal   Binary</vt:lpstr>
      <vt:lpstr>Storing Characters</vt:lpstr>
      <vt:lpstr>ASCII</vt:lpstr>
      <vt:lpstr>Advanced Number Storage</vt:lpstr>
      <vt:lpstr>Other Types of Data</vt:lpstr>
      <vt:lpstr>1-4 How a Program Works (1 of 4)</vt:lpstr>
      <vt:lpstr>How a Program Works (2 of 4)</vt:lpstr>
      <vt:lpstr>What happens when run a program? (3 of 4)</vt:lpstr>
      <vt:lpstr>How a Program Works (4 of 4)</vt:lpstr>
      <vt:lpstr>From Machine Language to Assembly Language</vt:lpstr>
      <vt:lpstr>High-Level Languages</vt:lpstr>
      <vt:lpstr>Keywords, Operators, and Syntax: An Overview</vt:lpstr>
      <vt:lpstr>Compilers and Interpreters (1 of 4)</vt:lpstr>
      <vt:lpstr>Compiler and Interpreter (2 of 4)</vt:lpstr>
      <vt:lpstr>Compilers and Interpreters (3 of 4)</vt:lpstr>
      <vt:lpstr>Compilers and Interpreters (4 of 4)</vt:lpstr>
      <vt:lpstr>1-5 Using Python</vt:lpstr>
      <vt:lpstr>Interactive Mode</vt:lpstr>
      <vt:lpstr>Writing Python Programs and Running Them in Script Mode</vt:lpstr>
      <vt:lpstr>The I D L E Programming Environment</vt:lpstr>
      <vt:lpstr>Summary</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Sixth Edition, Chapter 1, Introduction to Computers and Programming</dc:title>
  <dc:subject>Computer Science</dc:subject>
  <dc:creator>Gaddis</dc:creator>
  <cp:keywords>Starting Out with Python</cp:keywords>
  <dc:description>Long description alt-text is inserted in the notes pane; This deck contains code snippets and screen reader users may need to increase verbosity levels.</dc:description>
  <cp:lastModifiedBy>Zuo, Jun</cp:lastModifiedBy>
  <cp:revision>970</cp:revision>
  <dcterms:modified xsi:type="dcterms:W3CDTF">2026-09-04T16:05:18Z</dcterms:modified>
</cp:coreProperties>
</file>